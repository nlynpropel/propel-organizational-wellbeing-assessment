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40"/>
        </a:solidFill>
      </p:bgPr>
    </p:bg>
    <p:spTree>
      <p:nvGrpSpPr>
        <p:cNvPr id="1" name=""/>
        <p:cNvGrpSpPr/>
        <p:nvPr/>
      </p:nvGrpSpPr>
      <p:grpSpPr>
        <a:xfrm>
          <a:off x="0" y="0"/>
          <a:ext cx="0" cy="0"/>
          <a:chOff x="0" y="0"/>
          <a:chExt cx="0" cy="0"/>
        </a:xfrm>
      </p:grpSpPr>
      <p:sp>
        <p:nvSpPr>
          <p:cNvPr id="2" name="Text 0"/>
          <p:cNvSpPr/>
          <p:nvPr/>
        </p:nvSpPr>
        <p:spPr>
          <a:xfrm>
            <a:off x="548640" y="1280160"/>
            <a:ext cx="6400800" cy="320040"/>
          </a:xfrm>
          <a:prstGeom prst="rect">
            <a:avLst/>
          </a:prstGeom>
          <a:noFill/>
          <a:ln/>
        </p:spPr>
        <p:txBody>
          <a:bodyPr wrap="square" rtlCol="0" anchor="ctr"/>
          <a:lstStyle/>
          <a:p>
            <a:pPr indent="0" marL="0">
              <a:buNone/>
            </a:pPr>
            <a:r>
              <a:rPr lang="en-US" sz="1200" b="1" spc="200" kern="0" dirty="0">
                <a:solidFill>
                  <a:srgbClr val="9FB3D1"/>
                </a:solidFill>
                <a:latin typeface="Arial" pitchFamily="34" charset="0"/>
                <a:ea typeface="Arial" pitchFamily="34" charset="-122"/>
                <a:cs typeface="Arial" pitchFamily="34" charset="-120"/>
              </a:rPr>
              <a:t>WELL-BEING OPPORTUNITY REPORT</a:t>
            </a:r>
            <a:endParaRPr lang="en-US" sz="1200" dirty="0"/>
          </a:p>
        </p:txBody>
      </p:sp>
      <p:sp>
        <p:nvSpPr>
          <p:cNvPr id="3" name="Text 1"/>
          <p:cNvSpPr/>
          <p:nvPr/>
        </p:nvSpPr>
        <p:spPr>
          <a:xfrm>
            <a:off x="548640" y="1645920"/>
            <a:ext cx="6583680" cy="100584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Dyerco Fabricators</a:t>
            </a:r>
            <a:endParaRPr lang="en-US" sz="4000" dirty="0"/>
          </a:p>
        </p:txBody>
      </p:sp>
      <p:sp>
        <p:nvSpPr>
          <p:cNvPr id="4" name="Text 2"/>
          <p:cNvSpPr/>
          <p:nvPr/>
        </p:nvSpPr>
        <p:spPr>
          <a:xfrm>
            <a:off x="548640" y="2606040"/>
            <a:ext cx="6400800" cy="365760"/>
          </a:xfrm>
          <a:prstGeom prst="rect">
            <a:avLst/>
          </a:prstGeom>
          <a:noFill/>
          <a:ln/>
        </p:spPr>
        <p:txBody>
          <a:bodyPr wrap="square" lIns="0" tIns="0" rIns="0" bIns="0" rtlCol="0" anchor="ctr"/>
          <a:lstStyle/>
          <a:p>
            <a:pPr indent="0" marL="0">
              <a:buNone/>
            </a:pPr>
            <a:r>
              <a:rPr lang="en-US" sz="1800" dirty="0">
                <a:solidFill>
                  <a:srgbClr val="C9D6E8"/>
                </a:solidFill>
                <a:latin typeface="Arial" pitchFamily="34" charset="0"/>
                <a:ea typeface="Arial" pitchFamily="34" charset="-122"/>
                <a:cs typeface="Arial" pitchFamily="34" charset="-120"/>
              </a:rPr>
              <a:t>Propel Well-being Opportunity Index</a:t>
            </a:r>
            <a:endParaRPr lang="en-US" sz="1800" dirty="0"/>
          </a:p>
        </p:txBody>
      </p:sp>
      <p:sp>
        <p:nvSpPr>
          <p:cNvPr id="5" name="Text 3"/>
          <p:cNvSpPr/>
          <p:nvPr/>
        </p:nvSpPr>
        <p:spPr>
          <a:xfrm>
            <a:off x="548640" y="2971800"/>
            <a:ext cx="6400800" cy="320040"/>
          </a:xfrm>
          <a:prstGeom prst="rect">
            <a:avLst/>
          </a:prstGeom>
          <a:noFill/>
          <a:ln/>
        </p:spPr>
        <p:txBody>
          <a:bodyPr wrap="square" lIns="0" tIns="0" rIns="0" bIns="0" rtlCol="0" anchor="ctr"/>
          <a:lstStyle/>
          <a:p>
            <a:pPr indent="0" marL="0">
              <a:buNone/>
            </a:pPr>
            <a:r>
              <a:rPr lang="en-US" sz="1200" dirty="0">
                <a:solidFill>
                  <a:srgbClr val="8FA3C0"/>
                </a:solidFill>
                <a:latin typeface="Arial" pitchFamily="34" charset="0"/>
                <a:ea typeface="Arial" pitchFamily="34" charset="-122"/>
                <a:cs typeface="Arial" pitchFamily="34" charset="-120"/>
              </a:rPr>
              <a:t>Jul 22, 2026</a:t>
            </a:r>
            <a:endParaRPr lang="en-US" sz="1200" dirty="0"/>
          </a:p>
        </p:txBody>
      </p:sp>
      <p:sp>
        <p:nvSpPr>
          <p:cNvPr id="6" name="Shape 4"/>
          <p:cNvSpPr/>
          <p:nvPr/>
        </p:nvSpPr>
        <p:spPr>
          <a:xfrm>
            <a:off x="8229600" y="1463040"/>
            <a:ext cx="3291840" cy="3017520"/>
          </a:xfrm>
          <a:prstGeom prst="rect">
            <a:avLst/>
          </a:prstGeom>
          <a:solidFill>
            <a:srgbClr val="FFFFFF"/>
          </a:solidFill>
          <a:ln/>
          <a:effectLst>
            <a:outerShdw sx="100000" sy="100000" kx="0" ky="0" algn="bl" rotWithShape="0" blurRad="152400" dist="38100" dir="5400000">
              <a:srgbClr val="000000">
                <a:alpha val="25000"/>
              </a:srgbClr>
            </a:outerShdw>
          </a:effectLst>
        </p:spPr>
      </p:sp>
      <p:sp>
        <p:nvSpPr>
          <p:cNvPr id="7" name="Text 5"/>
          <p:cNvSpPr/>
          <p:nvPr/>
        </p:nvSpPr>
        <p:spPr>
          <a:xfrm>
            <a:off x="8503920" y="1737360"/>
            <a:ext cx="2743200" cy="274320"/>
          </a:xfrm>
          <a:prstGeom prst="rect">
            <a:avLst/>
          </a:prstGeom>
          <a:noFill/>
          <a:ln/>
        </p:spPr>
        <p:txBody>
          <a:bodyPr wrap="square" rtlCol="0" anchor="ctr"/>
          <a:lstStyle/>
          <a:p>
            <a:pPr indent="0" marL="0">
              <a:buNone/>
            </a:pPr>
            <a:r>
              <a:rPr lang="en-US" sz="1100" b="1" dirty="0">
                <a:solidFill>
                  <a:srgbClr val="667085"/>
                </a:solidFill>
                <a:latin typeface="Arial" pitchFamily="34" charset="0"/>
                <a:ea typeface="Arial" pitchFamily="34" charset="-122"/>
                <a:cs typeface="Arial" pitchFamily="34" charset="-120"/>
              </a:rPr>
              <a:t>Overall Opportunity Index</a:t>
            </a:r>
            <a:endParaRPr lang="en-US" sz="1100" dirty="0"/>
          </a:p>
        </p:txBody>
      </p:sp>
      <p:sp>
        <p:nvSpPr>
          <p:cNvPr id="8" name="Text 6"/>
          <p:cNvSpPr/>
          <p:nvPr/>
        </p:nvSpPr>
        <p:spPr>
          <a:xfrm>
            <a:off x="8503920" y="2057400"/>
            <a:ext cx="2011680" cy="914400"/>
          </a:xfrm>
          <a:prstGeom prst="rect">
            <a:avLst/>
          </a:prstGeom>
          <a:noFill/>
          <a:ln/>
        </p:spPr>
        <p:txBody>
          <a:bodyPr wrap="square" lIns="0" tIns="0" rIns="0" bIns="0" rtlCol="0" anchor="ctr"/>
          <a:lstStyle/>
          <a:p>
            <a:pPr indent="0" marL="0">
              <a:buNone/>
            </a:pPr>
            <a:r>
              <a:rPr lang="en-US" sz="5400" b="1" dirty="0">
                <a:solidFill>
                  <a:srgbClr val="132340"/>
                </a:solidFill>
                <a:latin typeface="Arial" pitchFamily="34" charset="0"/>
                <a:ea typeface="Arial" pitchFamily="34" charset="-122"/>
                <a:cs typeface="Arial" pitchFamily="34" charset="-120"/>
              </a:rPr>
              <a:t>55</a:t>
            </a:r>
            <a:endParaRPr lang="en-US" sz="5400" dirty="0"/>
          </a:p>
        </p:txBody>
      </p:sp>
      <p:sp>
        <p:nvSpPr>
          <p:cNvPr id="9" name="Text 7"/>
          <p:cNvSpPr/>
          <p:nvPr/>
        </p:nvSpPr>
        <p:spPr>
          <a:xfrm>
            <a:off x="9966960" y="2514600"/>
            <a:ext cx="914400" cy="365760"/>
          </a:xfrm>
          <a:prstGeom prst="rect">
            <a:avLst/>
          </a:prstGeom>
          <a:noFill/>
          <a:ln/>
        </p:spPr>
        <p:txBody>
          <a:bodyPr wrap="square" lIns="0" tIns="0" rIns="0" bIns="0" rtlCol="0" anchor="ctr"/>
          <a:lstStyle/>
          <a:p>
            <a:pPr indent="0" marL="0">
              <a:buNone/>
            </a:pPr>
            <a:r>
              <a:rPr lang="en-US" sz="1600" dirty="0">
                <a:solidFill>
                  <a:srgbClr val="667085"/>
                </a:solidFill>
                <a:latin typeface="Arial" pitchFamily="34" charset="0"/>
                <a:ea typeface="Arial" pitchFamily="34" charset="-122"/>
                <a:cs typeface="Arial" pitchFamily="34" charset="-120"/>
              </a:rPr>
              <a:t>/100</a:t>
            </a:r>
            <a:endParaRPr lang="en-US" sz="1600" dirty="0"/>
          </a:p>
        </p:txBody>
      </p:sp>
      <p:sp>
        <p:nvSpPr>
          <p:cNvPr id="10" name="Shape 8"/>
          <p:cNvSpPr/>
          <p:nvPr/>
        </p:nvSpPr>
        <p:spPr>
          <a:xfrm>
            <a:off x="8503920" y="3063240"/>
            <a:ext cx="1554480" cy="365760"/>
          </a:xfrm>
          <a:prstGeom prst="roundRect">
            <a:avLst>
              <a:gd name="adj" fmla="val 20000"/>
            </a:avLst>
          </a:prstGeom>
          <a:solidFill>
            <a:srgbClr val="5C7C99"/>
          </a:solidFill>
          <a:ln/>
        </p:spPr>
      </p:sp>
      <p:sp>
        <p:nvSpPr>
          <p:cNvPr id="11" name="Text 9"/>
          <p:cNvSpPr/>
          <p:nvPr/>
        </p:nvSpPr>
        <p:spPr>
          <a:xfrm>
            <a:off x="8503920" y="3063240"/>
            <a:ext cx="15544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Developing</a:t>
            </a:r>
            <a:endParaRPr lang="en-US" sz="1200" dirty="0"/>
          </a:p>
        </p:txBody>
      </p:sp>
      <p:sp>
        <p:nvSpPr>
          <p:cNvPr id="12" name="Shape 10"/>
          <p:cNvSpPr/>
          <p:nvPr/>
        </p:nvSpPr>
        <p:spPr>
          <a:xfrm>
            <a:off x="8503920" y="3657600"/>
            <a:ext cx="548640" cy="292608"/>
          </a:xfrm>
          <a:prstGeom prst="rect">
            <a:avLst/>
          </a:prstGeom>
          <a:solidFill>
            <a:srgbClr val="9AA5B1"/>
          </a:solidFill>
          <a:ln w="19050">
            <a:solidFill>
              <a:srgbClr val="FFFFFF"/>
            </a:solidFill>
            <a:prstDash val="solid"/>
          </a:ln>
        </p:spPr>
      </p:sp>
      <p:sp>
        <p:nvSpPr>
          <p:cNvPr id="13" name="Text 11"/>
          <p:cNvSpPr/>
          <p:nvPr/>
        </p:nvSpPr>
        <p:spPr>
          <a:xfrm>
            <a:off x="8430768" y="3986784"/>
            <a:ext cx="694944" cy="182880"/>
          </a:xfrm>
          <a:prstGeom prst="rect">
            <a:avLst/>
          </a:prstGeom>
          <a:noFill/>
          <a:ln/>
        </p:spPr>
        <p:txBody>
          <a:bodyPr wrap="none" lIns="0" tIns="0" rIns="0" bIns="0" rtlCol="0" anchor="ctr"/>
          <a:lstStyle/>
          <a:p>
            <a:pPr algn="ctr" indent="0" marL="0">
              <a:buNone/>
            </a:pPr>
            <a:r>
              <a:rPr lang="en-US" sz="700" dirty="0">
                <a:solidFill>
                  <a:srgbClr val="667085"/>
                </a:solidFill>
                <a:latin typeface="Arial" pitchFamily="34" charset="0"/>
                <a:ea typeface="Arial" pitchFamily="34" charset="-122"/>
                <a:cs typeface="Arial" pitchFamily="34" charset="-120"/>
              </a:rPr>
              <a:t>Reactive</a:t>
            </a:r>
            <a:endParaRPr lang="en-US" sz="700" dirty="0"/>
          </a:p>
        </p:txBody>
      </p:sp>
      <p:sp>
        <p:nvSpPr>
          <p:cNvPr id="14" name="Shape 12"/>
          <p:cNvSpPr/>
          <p:nvPr/>
        </p:nvSpPr>
        <p:spPr>
          <a:xfrm>
            <a:off x="9052560" y="3657600"/>
            <a:ext cx="548640" cy="292608"/>
          </a:xfrm>
          <a:prstGeom prst="rect">
            <a:avLst/>
          </a:prstGeom>
          <a:solidFill>
            <a:srgbClr val="5C7C99"/>
          </a:solidFill>
          <a:ln w="19050">
            <a:solidFill>
              <a:srgbClr val="FFFFFF"/>
            </a:solidFill>
            <a:prstDash val="solid"/>
          </a:ln>
        </p:spPr>
      </p:sp>
      <p:sp>
        <p:nvSpPr>
          <p:cNvPr id="15" name="Text 13"/>
          <p:cNvSpPr/>
          <p:nvPr/>
        </p:nvSpPr>
        <p:spPr>
          <a:xfrm>
            <a:off x="8979408" y="3986784"/>
            <a:ext cx="694944" cy="182880"/>
          </a:xfrm>
          <a:prstGeom prst="rect">
            <a:avLst/>
          </a:prstGeom>
          <a:noFill/>
          <a:ln/>
        </p:spPr>
        <p:txBody>
          <a:bodyPr wrap="none" lIns="0" tIns="0" rIns="0" bIns="0" rtlCol="0" anchor="ctr"/>
          <a:lstStyle/>
          <a:p>
            <a:pPr algn="ctr" indent="0" marL="0">
              <a:buNone/>
            </a:pPr>
            <a:r>
              <a:rPr lang="en-US" sz="700" dirty="0">
                <a:solidFill>
                  <a:srgbClr val="667085"/>
                </a:solidFill>
                <a:latin typeface="Arial" pitchFamily="34" charset="0"/>
                <a:ea typeface="Arial" pitchFamily="34" charset="-122"/>
                <a:cs typeface="Arial" pitchFamily="34" charset="-120"/>
              </a:rPr>
              <a:t>Developing</a:t>
            </a:r>
            <a:endParaRPr lang="en-US" sz="700" dirty="0"/>
          </a:p>
        </p:txBody>
      </p:sp>
      <p:sp>
        <p:nvSpPr>
          <p:cNvPr id="16" name="Shape 14"/>
          <p:cNvSpPr/>
          <p:nvPr/>
        </p:nvSpPr>
        <p:spPr>
          <a:xfrm>
            <a:off x="9601200" y="3657600"/>
            <a:ext cx="548640" cy="292608"/>
          </a:xfrm>
          <a:prstGeom prst="rect">
            <a:avLst/>
          </a:prstGeom>
          <a:solidFill>
            <a:srgbClr val="E8813A"/>
          </a:solidFill>
          <a:ln w="19050">
            <a:solidFill>
              <a:srgbClr val="FFFFFF"/>
            </a:solidFill>
            <a:prstDash val="solid"/>
          </a:ln>
        </p:spPr>
      </p:sp>
      <p:sp>
        <p:nvSpPr>
          <p:cNvPr id="17" name="Text 15"/>
          <p:cNvSpPr/>
          <p:nvPr/>
        </p:nvSpPr>
        <p:spPr>
          <a:xfrm>
            <a:off x="9528048" y="3986784"/>
            <a:ext cx="694944" cy="182880"/>
          </a:xfrm>
          <a:prstGeom prst="rect">
            <a:avLst/>
          </a:prstGeom>
          <a:noFill/>
          <a:ln/>
        </p:spPr>
        <p:txBody>
          <a:bodyPr wrap="none" lIns="0" tIns="0" rIns="0" bIns="0" rtlCol="0" anchor="ctr"/>
          <a:lstStyle/>
          <a:p>
            <a:pPr algn="ctr" indent="0" marL="0">
              <a:buNone/>
            </a:pPr>
            <a:r>
              <a:rPr lang="en-US" sz="700" dirty="0">
                <a:solidFill>
                  <a:srgbClr val="667085"/>
                </a:solidFill>
                <a:latin typeface="Arial" pitchFamily="34" charset="0"/>
                <a:ea typeface="Arial" pitchFamily="34" charset="-122"/>
                <a:cs typeface="Arial" pitchFamily="34" charset="-120"/>
              </a:rPr>
              <a:t>Established</a:t>
            </a:r>
            <a:endParaRPr lang="en-US" sz="700" dirty="0"/>
          </a:p>
        </p:txBody>
      </p:sp>
      <p:sp>
        <p:nvSpPr>
          <p:cNvPr id="18" name="Shape 16"/>
          <p:cNvSpPr/>
          <p:nvPr/>
        </p:nvSpPr>
        <p:spPr>
          <a:xfrm>
            <a:off x="10149840" y="3657600"/>
            <a:ext cx="548640" cy="292608"/>
          </a:xfrm>
          <a:prstGeom prst="rect">
            <a:avLst/>
          </a:prstGeom>
          <a:solidFill>
            <a:srgbClr val="7CB342"/>
          </a:solidFill>
          <a:ln w="19050">
            <a:solidFill>
              <a:srgbClr val="FFFFFF"/>
            </a:solidFill>
            <a:prstDash val="solid"/>
          </a:ln>
        </p:spPr>
      </p:sp>
      <p:sp>
        <p:nvSpPr>
          <p:cNvPr id="19" name="Text 17"/>
          <p:cNvSpPr/>
          <p:nvPr/>
        </p:nvSpPr>
        <p:spPr>
          <a:xfrm>
            <a:off x="10076688" y="3986784"/>
            <a:ext cx="694944" cy="182880"/>
          </a:xfrm>
          <a:prstGeom prst="rect">
            <a:avLst/>
          </a:prstGeom>
          <a:noFill/>
          <a:ln/>
        </p:spPr>
        <p:txBody>
          <a:bodyPr wrap="none" lIns="0" tIns="0" rIns="0" bIns="0" rtlCol="0" anchor="ctr"/>
          <a:lstStyle/>
          <a:p>
            <a:pPr algn="ctr" indent="0" marL="0">
              <a:buNone/>
            </a:pPr>
            <a:r>
              <a:rPr lang="en-US" sz="700" dirty="0">
                <a:solidFill>
                  <a:srgbClr val="667085"/>
                </a:solidFill>
                <a:latin typeface="Arial" pitchFamily="34" charset="0"/>
                <a:ea typeface="Arial" pitchFamily="34" charset="-122"/>
                <a:cs typeface="Arial" pitchFamily="34" charset="-120"/>
              </a:rPr>
              <a:t>Strategic</a:t>
            </a:r>
            <a:endParaRPr lang="en-US" sz="700" dirty="0"/>
          </a:p>
        </p:txBody>
      </p:sp>
      <p:sp>
        <p:nvSpPr>
          <p:cNvPr id="20" name="Shape 18"/>
          <p:cNvSpPr/>
          <p:nvPr/>
        </p:nvSpPr>
        <p:spPr>
          <a:xfrm>
            <a:off x="10698480" y="3657600"/>
            <a:ext cx="548640" cy="292608"/>
          </a:xfrm>
          <a:prstGeom prst="rect">
            <a:avLst/>
          </a:prstGeom>
          <a:solidFill>
            <a:srgbClr val="4A7C1F"/>
          </a:solidFill>
          <a:ln w="19050">
            <a:solidFill>
              <a:srgbClr val="FFFFFF"/>
            </a:solidFill>
            <a:prstDash val="solid"/>
          </a:ln>
        </p:spPr>
      </p:sp>
      <p:sp>
        <p:nvSpPr>
          <p:cNvPr id="21" name="Text 19"/>
          <p:cNvSpPr/>
          <p:nvPr/>
        </p:nvSpPr>
        <p:spPr>
          <a:xfrm>
            <a:off x="10625328" y="3986784"/>
            <a:ext cx="694944" cy="182880"/>
          </a:xfrm>
          <a:prstGeom prst="rect">
            <a:avLst/>
          </a:prstGeom>
          <a:noFill/>
          <a:ln/>
        </p:spPr>
        <p:txBody>
          <a:bodyPr wrap="none" lIns="0" tIns="0" rIns="0" bIns="0" rtlCol="0" anchor="ctr"/>
          <a:lstStyle/>
          <a:p>
            <a:pPr algn="ctr" indent="0" marL="0">
              <a:buNone/>
            </a:pPr>
            <a:r>
              <a:rPr lang="en-US" sz="700" dirty="0">
                <a:solidFill>
                  <a:srgbClr val="667085"/>
                </a:solidFill>
                <a:latin typeface="Arial" pitchFamily="34" charset="0"/>
                <a:ea typeface="Arial" pitchFamily="34" charset="-122"/>
                <a:cs typeface="Arial" pitchFamily="34" charset="-120"/>
              </a:rPr>
              <a:t>Leading</a:t>
            </a:r>
            <a:endParaRPr lang="en-US" sz="700" dirty="0"/>
          </a:p>
        </p:txBody>
      </p:sp>
      <p:sp>
        <p:nvSpPr>
          <p:cNvPr id="22" name="Shape 20"/>
          <p:cNvSpPr/>
          <p:nvPr/>
        </p:nvSpPr>
        <p:spPr>
          <a:xfrm>
            <a:off x="9985248" y="3602736"/>
            <a:ext cx="54864" cy="402336"/>
          </a:xfrm>
          <a:prstGeom prst="rect">
            <a:avLst/>
          </a:prstGeom>
          <a:solidFill>
            <a:srgbClr val="FFFFFF"/>
          </a:solidFill>
          <a:ln w="15875">
            <a:solidFill>
              <a:srgbClr val="132340"/>
            </a:solidFill>
            <a:prstDash val="solid"/>
          </a:ln>
        </p:spPr>
      </p:sp>
      <p:sp>
        <p:nvSpPr>
          <p:cNvPr id="23" name="Text 21"/>
          <p:cNvSpPr/>
          <p:nvPr/>
        </p:nvSpPr>
        <p:spPr>
          <a:xfrm>
            <a:off x="548640" y="6355080"/>
            <a:ext cx="3657600" cy="274320"/>
          </a:xfrm>
          <a:prstGeom prst="rect">
            <a:avLst/>
          </a:prstGeom>
          <a:noFill/>
          <a:ln/>
        </p:spPr>
        <p:txBody>
          <a:bodyPr wrap="square" rtlCol="0" anchor="ctr"/>
          <a:lstStyle/>
          <a:p>
            <a:pPr indent="0" marL="0">
              <a:buNone/>
            </a:pPr>
            <a:r>
              <a:rPr lang="en-US" sz="900" i="1" dirty="0">
                <a:solidFill>
                  <a:srgbClr val="8FA3C0"/>
                </a:solidFill>
                <a:latin typeface="Arial" pitchFamily="34" charset="0"/>
                <a:ea typeface="Arial" pitchFamily="34" charset="-122"/>
                <a:cs typeface="Arial" pitchFamily="34" charset="-120"/>
              </a:rPr>
              <a:t>Powered by Propel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457200"/>
          </a:xfrm>
          <a:prstGeom prst="rect">
            <a:avLst/>
          </a:prstGeom>
          <a:noFill/>
          <a:ln/>
        </p:spPr>
        <p:txBody>
          <a:bodyPr wrap="square" rtlCol="0" anchor="ctr"/>
          <a:lstStyle/>
          <a:p>
            <a:pPr indent="0" marL="0">
              <a:buNone/>
            </a:pPr>
            <a:r>
              <a:rPr lang="en-US" sz="2400" b="1" dirty="0">
                <a:solidFill>
                  <a:srgbClr val="132340"/>
                </a:solidFill>
                <a:latin typeface="Arial" pitchFamily="34" charset="0"/>
                <a:ea typeface="Arial" pitchFamily="34" charset="-122"/>
                <a:cs typeface="Arial" pitchFamily="34" charset="-120"/>
              </a:rPr>
              <a:t>Opportunity Index Overview</a:t>
            </a:r>
            <a:endParaRPr lang="en-US" sz="2400" dirty="0"/>
          </a:p>
        </p:txBody>
      </p:sp>
      <p:sp>
        <p:nvSpPr>
          <p:cNvPr id="3" name="Shape 1"/>
          <p:cNvSpPr/>
          <p:nvPr/>
        </p:nvSpPr>
        <p:spPr>
          <a:xfrm>
            <a:off x="548640" y="1051560"/>
            <a:ext cx="841248" cy="292608"/>
          </a:xfrm>
          <a:prstGeom prst="rect">
            <a:avLst/>
          </a:prstGeom>
          <a:solidFill>
            <a:srgbClr val="9AA5B1"/>
          </a:solidFill>
          <a:ln w="19050">
            <a:solidFill>
              <a:srgbClr val="FFFFFF"/>
            </a:solidFill>
            <a:prstDash val="solid"/>
          </a:ln>
        </p:spPr>
      </p:sp>
      <p:sp>
        <p:nvSpPr>
          <p:cNvPr id="4" name="Text 2"/>
          <p:cNvSpPr/>
          <p:nvPr/>
        </p:nvSpPr>
        <p:spPr>
          <a:xfrm>
            <a:off x="475488" y="1380744"/>
            <a:ext cx="987552" cy="182880"/>
          </a:xfrm>
          <a:prstGeom prst="rect">
            <a:avLst/>
          </a:prstGeom>
          <a:noFill/>
          <a:ln/>
        </p:spPr>
        <p:txBody>
          <a:bodyPr wrap="none" lIns="0" tIns="0" rIns="0" bIns="0" rtlCol="0" anchor="ctr"/>
          <a:lstStyle/>
          <a:p>
            <a:pPr algn="ctr" indent="0" marL="0">
              <a:buNone/>
            </a:pPr>
            <a:r>
              <a:rPr lang="en-US" sz="700" dirty="0">
                <a:solidFill>
                  <a:srgbClr val="667085"/>
                </a:solidFill>
                <a:latin typeface="Arial" pitchFamily="34" charset="0"/>
                <a:ea typeface="Arial" pitchFamily="34" charset="-122"/>
                <a:cs typeface="Arial" pitchFamily="34" charset="-120"/>
              </a:rPr>
              <a:t>Reactive</a:t>
            </a:r>
            <a:endParaRPr lang="en-US" sz="700" dirty="0"/>
          </a:p>
        </p:txBody>
      </p:sp>
      <p:sp>
        <p:nvSpPr>
          <p:cNvPr id="5" name="Shape 3"/>
          <p:cNvSpPr/>
          <p:nvPr/>
        </p:nvSpPr>
        <p:spPr>
          <a:xfrm>
            <a:off x="1389888" y="1051560"/>
            <a:ext cx="841248" cy="292608"/>
          </a:xfrm>
          <a:prstGeom prst="rect">
            <a:avLst/>
          </a:prstGeom>
          <a:solidFill>
            <a:srgbClr val="5C7C99"/>
          </a:solidFill>
          <a:ln w="19050">
            <a:solidFill>
              <a:srgbClr val="FFFFFF"/>
            </a:solidFill>
            <a:prstDash val="solid"/>
          </a:ln>
        </p:spPr>
      </p:sp>
      <p:sp>
        <p:nvSpPr>
          <p:cNvPr id="6" name="Text 4"/>
          <p:cNvSpPr/>
          <p:nvPr/>
        </p:nvSpPr>
        <p:spPr>
          <a:xfrm>
            <a:off x="1316736" y="1380744"/>
            <a:ext cx="987552" cy="182880"/>
          </a:xfrm>
          <a:prstGeom prst="rect">
            <a:avLst/>
          </a:prstGeom>
          <a:noFill/>
          <a:ln/>
        </p:spPr>
        <p:txBody>
          <a:bodyPr wrap="none" lIns="0" tIns="0" rIns="0" bIns="0" rtlCol="0" anchor="ctr"/>
          <a:lstStyle/>
          <a:p>
            <a:pPr algn="ctr" indent="0" marL="0">
              <a:buNone/>
            </a:pPr>
            <a:r>
              <a:rPr lang="en-US" sz="700" dirty="0">
                <a:solidFill>
                  <a:srgbClr val="667085"/>
                </a:solidFill>
                <a:latin typeface="Arial" pitchFamily="34" charset="0"/>
                <a:ea typeface="Arial" pitchFamily="34" charset="-122"/>
                <a:cs typeface="Arial" pitchFamily="34" charset="-120"/>
              </a:rPr>
              <a:t>Developing</a:t>
            </a:r>
            <a:endParaRPr lang="en-US" sz="700" dirty="0"/>
          </a:p>
        </p:txBody>
      </p:sp>
      <p:sp>
        <p:nvSpPr>
          <p:cNvPr id="7" name="Shape 5"/>
          <p:cNvSpPr/>
          <p:nvPr/>
        </p:nvSpPr>
        <p:spPr>
          <a:xfrm>
            <a:off x="2231136" y="1051560"/>
            <a:ext cx="841248" cy="292608"/>
          </a:xfrm>
          <a:prstGeom prst="rect">
            <a:avLst/>
          </a:prstGeom>
          <a:solidFill>
            <a:srgbClr val="E8813A"/>
          </a:solidFill>
          <a:ln w="19050">
            <a:solidFill>
              <a:srgbClr val="FFFFFF"/>
            </a:solidFill>
            <a:prstDash val="solid"/>
          </a:ln>
        </p:spPr>
      </p:sp>
      <p:sp>
        <p:nvSpPr>
          <p:cNvPr id="8" name="Text 6"/>
          <p:cNvSpPr/>
          <p:nvPr/>
        </p:nvSpPr>
        <p:spPr>
          <a:xfrm>
            <a:off x="2157984" y="1380744"/>
            <a:ext cx="987552" cy="182880"/>
          </a:xfrm>
          <a:prstGeom prst="rect">
            <a:avLst/>
          </a:prstGeom>
          <a:noFill/>
          <a:ln/>
        </p:spPr>
        <p:txBody>
          <a:bodyPr wrap="none" lIns="0" tIns="0" rIns="0" bIns="0" rtlCol="0" anchor="ctr"/>
          <a:lstStyle/>
          <a:p>
            <a:pPr algn="ctr" indent="0" marL="0">
              <a:buNone/>
            </a:pPr>
            <a:r>
              <a:rPr lang="en-US" sz="700" dirty="0">
                <a:solidFill>
                  <a:srgbClr val="667085"/>
                </a:solidFill>
                <a:latin typeface="Arial" pitchFamily="34" charset="0"/>
                <a:ea typeface="Arial" pitchFamily="34" charset="-122"/>
                <a:cs typeface="Arial" pitchFamily="34" charset="-120"/>
              </a:rPr>
              <a:t>Established</a:t>
            </a:r>
            <a:endParaRPr lang="en-US" sz="700" dirty="0"/>
          </a:p>
        </p:txBody>
      </p:sp>
      <p:sp>
        <p:nvSpPr>
          <p:cNvPr id="9" name="Shape 7"/>
          <p:cNvSpPr/>
          <p:nvPr/>
        </p:nvSpPr>
        <p:spPr>
          <a:xfrm>
            <a:off x="3072384" y="1051560"/>
            <a:ext cx="841248" cy="292608"/>
          </a:xfrm>
          <a:prstGeom prst="rect">
            <a:avLst/>
          </a:prstGeom>
          <a:solidFill>
            <a:srgbClr val="7CB342"/>
          </a:solidFill>
          <a:ln w="19050">
            <a:solidFill>
              <a:srgbClr val="FFFFFF"/>
            </a:solidFill>
            <a:prstDash val="solid"/>
          </a:ln>
        </p:spPr>
      </p:sp>
      <p:sp>
        <p:nvSpPr>
          <p:cNvPr id="10" name="Text 8"/>
          <p:cNvSpPr/>
          <p:nvPr/>
        </p:nvSpPr>
        <p:spPr>
          <a:xfrm>
            <a:off x="2999232" y="1380744"/>
            <a:ext cx="987552" cy="182880"/>
          </a:xfrm>
          <a:prstGeom prst="rect">
            <a:avLst/>
          </a:prstGeom>
          <a:noFill/>
          <a:ln/>
        </p:spPr>
        <p:txBody>
          <a:bodyPr wrap="none" lIns="0" tIns="0" rIns="0" bIns="0" rtlCol="0" anchor="ctr"/>
          <a:lstStyle/>
          <a:p>
            <a:pPr algn="ctr" indent="0" marL="0">
              <a:buNone/>
            </a:pPr>
            <a:r>
              <a:rPr lang="en-US" sz="700" dirty="0">
                <a:solidFill>
                  <a:srgbClr val="667085"/>
                </a:solidFill>
                <a:latin typeface="Arial" pitchFamily="34" charset="0"/>
                <a:ea typeface="Arial" pitchFamily="34" charset="-122"/>
                <a:cs typeface="Arial" pitchFamily="34" charset="-120"/>
              </a:rPr>
              <a:t>Strategic</a:t>
            </a:r>
            <a:endParaRPr lang="en-US" sz="700" dirty="0"/>
          </a:p>
        </p:txBody>
      </p:sp>
      <p:sp>
        <p:nvSpPr>
          <p:cNvPr id="11" name="Shape 9"/>
          <p:cNvSpPr/>
          <p:nvPr/>
        </p:nvSpPr>
        <p:spPr>
          <a:xfrm>
            <a:off x="3913632" y="1051560"/>
            <a:ext cx="841248" cy="292608"/>
          </a:xfrm>
          <a:prstGeom prst="rect">
            <a:avLst/>
          </a:prstGeom>
          <a:solidFill>
            <a:srgbClr val="4A7C1F"/>
          </a:solidFill>
          <a:ln w="19050">
            <a:solidFill>
              <a:srgbClr val="FFFFFF"/>
            </a:solidFill>
            <a:prstDash val="solid"/>
          </a:ln>
        </p:spPr>
      </p:sp>
      <p:sp>
        <p:nvSpPr>
          <p:cNvPr id="12" name="Text 10"/>
          <p:cNvSpPr/>
          <p:nvPr/>
        </p:nvSpPr>
        <p:spPr>
          <a:xfrm>
            <a:off x="3840480" y="1380744"/>
            <a:ext cx="987552" cy="182880"/>
          </a:xfrm>
          <a:prstGeom prst="rect">
            <a:avLst/>
          </a:prstGeom>
          <a:noFill/>
          <a:ln/>
        </p:spPr>
        <p:txBody>
          <a:bodyPr wrap="none" lIns="0" tIns="0" rIns="0" bIns="0" rtlCol="0" anchor="ctr"/>
          <a:lstStyle/>
          <a:p>
            <a:pPr algn="ctr" indent="0" marL="0">
              <a:buNone/>
            </a:pPr>
            <a:r>
              <a:rPr lang="en-US" sz="700" dirty="0">
                <a:solidFill>
                  <a:srgbClr val="667085"/>
                </a:solidFill>
                <a:latin typeface="Arial" pitchFamily="34" charset="0"/>
                <a:ea typeface="Arial" pitchFamily="34" charset="-122"/>
                <a:cs typeface="Arial" pitchFamily="34" charset="-120"/>
              </a:rPr>
              <a:t>Leading</a:t>
            </a:r>
            <a:endParaRPr lang="en-US" sz="700" dirty="0"/>
          </a:p>
        </p:txBody>
      </p:sp>
      <p:sp>
        <p:nvSpPr>
          <p:cNvPr id="13" name="Shape 11"/>
          <p:cNvSpPr/>
          <p:nvPr/>
        </p:nvSpPr>
        <p:spPr>
          <a:xfrm>
            <a:off x="2834640" y="996696"/>
            <a:ext cx="54864" cy="402336"/>
          </a:xfrm>
          <a:prstGeom prst="rect">
            <a:avLst/>
          </a:prstGeom>
          <a:solidFill>
            <a:srgbClr val="FFFFFF"/>
          </a:solidFill>
          <a:ln w="15875">
            <a:solidFill>
              <a:srgbClr val="132340"/>
            </a:solidFill>
            <a:prstDash val="solid"/>
          </a:ln>
        </p:spPr>
      </p:sp>
      <p:sp>
        <p:nvSpPr>
          <p:cNvPr id="14" name="Text 12"/>
          <p:cNvSpPr/>
          <p:nvPr/>
        </p:nvSpPr>
        <p:spPr>
          <a:xfrm>
            <a:off x="548640" y="1600200"/>
            <a:ext cx="1828800" cy="548640"/>
          </a:xfrm>
          <a:prstGeom prst="rect">
            <a:avLst/>
          </a:prstGeom>
          <a:noFill/>
          <a:ln/>
        </p:spPr>
        <p:txBody>
          <a:bodyPr wrap="square" lIns="0" tIns="0" rIns="0" bIns="0" rtlCol="0" anchor="ctr"/>
          <a:lstStyle/>
          <a:p>
            <a:pPr indent="0" marL="0">
              <a:buNone/>
            </a:pPr>
            <a:r>
              <a:rPr lang="en-US" sz="3000" b="1" dirty="0">
                <a:solidFill>
                  <a:srgbClr val="132340"/>
                </a:solidFill>
                <a:latin typeface="Arial" pitchFamily="34" charset="0"/>
                <a:ea typeface="Arial" pitchFamily="34" charset="-122"/>
                <a:cs typeface="Arial" pitchFamily="34" charset="-120"/>
              </a:rPr>
              <a:t>55</a:t>
            </a:r>
            <a:endParaRPr lang="en-US" sz="3000" dirty="0"/>
          </a:p>
        </p:txBody>
      </p:sp>
      <p:sp>
        <p:nvSpPr>
          <p:cNvPr id="15" name="Text 13"/>
          <p:cNvSpPr/>
          <p:nvPr/>
        </p:nvSpPr>
        <p:spPr>
          <a:xfrm>
            <a:off x="1828800" y="1737360"/>
            <a:ext cx="2743200" cy="365760"/>
          </a:xfrm>
          <a:prstGeom prst="rect">
            <a:avLst/>
          </a:prstGeom>
          <a:noFill/>
          <a:ln/>
        </p:spPr>
        <p:txBody>
          <a:bodyPr wrap="square" lIns="0" tIns="0" rIns="0" bIns="0" rtlCol="0" anchor="ctr"/>
          <a:lstStyle/>
          <a:p>
            <a:pPr indent="0" marL="0">
              <a:buNone/>
            </a:pPr>
            <a:r>
              <a:rPr lang="en-US" sz="1300" dirty="0">
                <a:solidFill>
                  <a:srgbClr val="667085"/>
                </a:solidFill>
                <a:latin typeface="Arial" pitchFamily="34" charset="0"/>
                <a:ea typeface="Arial" pitchFamily="34" charset="-122"/>
                <a:cs typeface="Arial" pitchFamily="34" charset="-120"/>
              </a:rPr>
              <a:t>/100  ·  Developing</a:t>
            </a:r>
            <a:endParaRPr lang="en-US" sz="1300" dirty="0"/>
          </a:p>
        </p:txBody>
      </p:sp>
      <p:sp>
        <p:nvSpPr>
          <p:cNvPr id="16" name="Text 14"/>
          <p:cNvSpPr/>
          <p:nvPr/>
        </p:nvSpPr>
        <p:spPr>
          <a:xfrm>
            <a:off x="548640" y="2651760"/>
            <a:ext cx="3246120" cy="274320"/>
          </a:xfrm>
          <a:prstGeom prst="rect">
            <a:avLst/>
          </a:prstGeom>
          <a:noFill/>
          <a:ln/>
        </p:spPr>
        <p:txBody>
          <a:bodyPr wrap="square" rtlCol="0" anchor="ctr"/>
          <a:lstStyle/>
          <a:p>
            <a:pPr indent="0" marL="0">
              <a:buNone/>
            </a:pPr>
            <a:r>
              <a:rPr lang="en-US" sz="1200" b="1" spc="100" kern="0" dirty="0">
                <a:solidFill>
                  <a:srgbClr val="4A7C1F"/>
                </a:solidFill>
                <a:latin typeface="Arial" pitchFamily="34" charset="0"/>
                <a:ea typeface="Arial" pitchFamily="34" charset="-122"/>
                <a:cs typeface="Arial" pitchFamily="34" charset="-120"/>
              </a:rPr>
              <a:t>STRENGTHS</a:t>
            </a:r>
            <a:endParaRPr lang="en-US" sz="1200" dirty="0"/>
          </a:p>
        </p:txBody>
      </p:sp>
      <p:sp>
        <p:nvSpPr>
          <p:cNvPr id="17" name="Text 15"/>
          <p:cNvSpPr/>
          <p:nvPr/>
        </p:nvSpPr>
        <p:spPr>
          <a:xfrm>
            <a:off x="4251960" y="2651760"/>
            <a:ext cx="4160520" cy="274320"/>
          </a:xfrm>
          <a:prstGeom prst="rect">
            <a:avLst/>
          </a:prstGeom>
          <a:noFill/>
          <a:ln/>
        </p:spPr>
        <p:txBody>
          <a:bodyPr wrap="square" rtlCol="0" anchor="ctr"/>
          <a:lstStyle/>
          <a:p>
            <a:pPr indent="0" marL="0">
              <a:buNone/>
            </a:pPr>
            <a:r>
              <a:rPr lang="en-US" sz="1200" b="1" spc="100" kern="0" dirty="0">
                <a:solidFill>
                  <a:srgbClr val="B45C1F"/>
                </a:solidFill>
                <a:latin typeface="Arial" pitchFamily="34" charset="0"/>
                <a:ea typeface="Arial" pitchFamily="34" charset="-122"/>
                <a:cs typeface="Arial" pitchFamily="34" charset="-120"/>
              </a:rPr>
              <a:t>PRIORITY OPPORTUNITIES</a:t>
            </a:r>
            <a:endParaRPr lang="en-US" sz="1200" dirty="0"/>
          </a:p>
        </p:txBody>
      </p:sp>
      <p:sp>
        <p:nvSpPr>
          <p:cNvPr id="18" name="Text 16"/>
          <p:cNvSpPr/>
          <p:nvPr/>
        </p:nvSpPr>
        <p:spPr>
          <a:xfrm>
            <a:off x="548640" y="6492240"/>
            <a:ext cx="2743200" cy="274320"/>
          </a:xfrm>
          <a:prstGeom prst="rect">
            <a:avLst/>
          </a:prstGeom>
          <a:noFill/>
          <a:ln/>
        </p:spPr>
        <p:txBody>
          <a:bodyPr wrap="square" rtlCol="0" anchor="ctr"/>
          <a:lstStyle/>
          <a:p>
            <a:pPr indent="0" marL="0">
              <a:buNone/>
            </a:pPr>
            <a:r>
              <a:rPr lang="en-US" sz="800" i="1" dirty="0">
                <a:solidFill>
                  <a:srgbClr val="667085"/>
                </a:solidFill>
                <a:latin typeface="Arial" pitchFamily="34" charset="0"/>
                <a:ea typeface="Arial" pitchFamily="34" charset="-122"/>
                <a:cs typeface="Arial" pitchFamily="34" charset="-120"/>
              </a:rPr>
              <a:t>Powered by Propel</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457200"/>
          </a:xfrm>
          <a:prstGeom prst="rect">
            <a:avLst/>
          </a:prstGeom>
          <a:noFill/>
          <a:ln/>
        </p:spPr>
        <p:txBody>
          <a:bodyPr wrap="square" rtlCol="0" anchor="ctr"/>
          <a:lstStyle/>
          <a:p>
            <a:pPr indent="0" marL="0">
              <a:buNone/>
            </a:pPr>
            <a:r>
              <a:rPr lang="en-US" sz="2400" b="1" dirty="0">
                <a:solidFill>
                  <a:srgbClr val="132340"/>
                </a:solidFill>
                <a:latin typeface="Arial" pitchFamily="34" charset="0"/>
                <a:ea typeface="Arial" pitchFamily="34" charset="-122"/>
                <a:cs typeface="Arial" pitchFamily="34" charset="-120"/>
              </a:rPr>
              <a:t>Strategy Dimensions</a:t>
            </a:r>
            <a:endParaRPr lang="en-US" sz="2400" dirty="0"/>
          </a:p>
        </p:txBody>
      </p:sp>
      <p:sp>
        <p:nvSpPr>
          <p:cNvPr id="3" name="Text 1"/>
          <p:cNvSpPr/>
          <p:nvPr/>
        </p:nvSpPr>
        <p:spPr>
          <a:xfrm>
            <a:off x="548640" y="914400"/>
            <a:ext cx="9144000" cy="274320"/>
          </a:xfrm>
          <a:prstGeom prst="rect">
            <a:avLst/>
          </a:prstGeom>
          <a:noFill/>
          <a:ln/>
        </p:spPr>
        <p:txBody>
          <a:bodyPr wrap="square" rtlCol="0" anchor="ctr"/>
          <a:lstStyle/>
          <a:p>
            <a:pPr indent="0" marL="0">
              <a:buNone/>
            </a:pPr>
            <a:r>
              <a:rPr lang="en-US" sz="1100" i="1" dirty="0">
                <a:solidFill>
                  <a:srgbClr val="667085"/>
                </a:solidFill>
                <a:latin typeface="Arial" pitchFamily="34" charset="0"/>
                <a:ea typeface="Arial" pitchFamily="34" charset="-122"/>
                <a:cs typeface="Arial" pitchFamily="34" charset="-120"/>
              </a:rPr>
              <a:t>Scores across the six structural dimensions of the program.</a:t>
            </a:r>
            <a:endParaRPr lang="en-US" sz="1100" dirty="0"/>
          </a:p>
        </p:txBody>
      </p:sp>
      <p:sp>
        <p:nvSpPr>
          <p:cNvPr id="4" name="Text 2"/>
          <p:cNvSpPr/>
          <p:nvPr/>
        </p:nvSpPr>
        <p:spPr>
          <a:xfrm>
            <a:off x="548640" y="1554480"/>
            <a:ext cx="4449928" cy="219456"/>
          </a:xfrm>
          <a:prstGeom prst="rect">
            <a:avLst/>
          </a:prstGeom>
          <a:noFill/>
          <a:ln/>
        </p:spPr>
        <p:txBody>
          <a:bodyPr wrap="square" lIns="0" tIns="0" rIns="0" bIns="0" rtlCol="0" anchor="ctr"/>
          <a:lstStyle/>
          <a:p>
            <a:pPr indent="0" marL="0">
              <a:buNone/>
            </a:pPr>
            <a:r>
              <a:rPr lang="en-US" sz="1100" b="1" dirty="0">
                <a:solidFill>
                  <a:srgbClr val="1F2937"/>
                </a:solidFill>
                <a:latin typeface="Arial" pitchFamily="34" charset="0"/>
                <a:ea typeface="Arial" pitchFamily="34" charset="-122"/>
                <a:cs typeface="Arial" pitchFamily="34" charset="-120"/>
              </a:rPr>
              <a:t>Strategy and Leadership</a:t>
            </a:r>
            <a:endParaRPr lang="en-US" sz="1100" dirty="0"/>
          </a:p>
        </p:txBody>
      </p:sp>
      <p:sp>
        <p:nvSpPr>
          <p:cNvPr id="5" name="Text 3"/>
          <p:cNvSpPr/>
          <p:nvPr/>
        </p:nvSpPr>
        <p:spPr>
          <a:xfrm>
            <a:off x="4998568" y="1554480"/>
            <a:ext cx="822960" cy="219456"/>
          </a:xfrm>
          <a:prstGeom prst="rect">
            <a:avLst/>
          </a:prstGeom>
          <a:noFill/>
          <a:ln/>
        </p:spPr>
        <p:txBody>
          <a:bodyPr wrap="square" lIns="0" tIns="0" rIns="0" bIns="0" rtlCol="0" anchor="ctr"/>
          <a:lstStyle/>
          <a:p>
            <a:pPr algn="r" indent="0" marL="0">
              <a:buNone/>
            </a:pPr>
            <a:r>
              <a:rPr lang="en-US" sz="1100" b="1" dirty="0">
                <a:solidFill>
                  <a:srgbClr val="1F2937"/>
                </a:solidFill>
                <a:latin typeface="Arial" pitchFamily="34" charset="0"/>
                <a:ea typeface="Arial" pitchFamily="34" charset="-122"/>
                <a:cs typeface="Arial" pitchFamily="34" charset="-120"/>
              </a:rPr>
              <a:t>50 / 100</a:t>
            </a:r>
            <a:endParaRPr lang="en-US" sz="1100" dirty="0"/>
          </a:p>
        </p:txBody>
      </p:sp>
      <p:sp>
        <p:nvSpPr>
          <p:cNvPr id="6" name="Shape 4"/>
          <p:cNvSpPr/>
          <p:nvPr/>
        </p:nvSpPr>
        <p:spPr>
          <a:xfrm>
            <a:off x="548640" y="1828800"/>
            <a:ext cx="5272888" cy="128016"/>
          </a:xfrm>
          <a:prstGeom prst="rect">
            <a:avLst/>
          </a:prstGeom>
          <a:solidFill>
            <a:srgbClr val="E8EBEF"/>
          </a:solidFill>
          <a:ln/>
        </p:spPr>
      </p:sp>
      <p:sp>
        <p:nvSpPr>
          <p:cNvPr id="7" name="Shape 5"/>
          <p:cNvSpPr/>
          <p:nvPr/>
        </p:nvSpPr>
        <p:spPr>
          <a:xfrm>
            <a:off x="548640" y="1828800"/>
            <a:ext cx="2636444" cy="128016"/>
          </a:xfrm>
          <a:prstGeom prst="rect">
            <a:avLst/>
          </a:prstGeom>
          <a:solidFill>
            <a:srgbClr val="5C7C99"/>
          </a:solidFill>
          <a:ln/>
        </p:spPr>
      </p:sp>
      <p:sp>
        <p:nvSpPr>
          <p:cNvPr id="8" name="Text 6"/>
          <p:cNvSpPr/>
          <p:nvPr/>
        </p:nvSpPr>
        <p:spPr>
          <a:xfrm>
            <a:off x="548640" y="1993392"/>
            <a:ext cx="5272888" cy="182880"/>
          </a:xfrm>
          <a:prstGeom prst="rect">
            <a:avLst/>
          </a:prstGeom>
          <a:noFill/>
          <a:ln/>
        </p:spPr>
        <p:txBody>
          <a:bodyPr wrap="square" lIns="0" tIns="0" rIns="0" bIns="0" rtlCol="0" anchor="ctr"/>
          <a:lstStyle/>
          <a:p>
            <a:pPr indent="0" marL="0">
              <a:buNone/>
            </a:pPr>
            <a:r>
              <a:rPr lang="en-US" sz="900" dirty="0">
                <a:solidFill>
                  <a:srgbClr val="667085"/>
                </a:solidFill>
                <a:latin typeface="Arial" pitchFamily="34" charset="0"/>
                <a:ea typeface="Arial" pitchFamily="34" charset="-122"/>
                <a:cs typeface="Arial" pitchFamily="34" charset="-120"/>
              </a:rPr>
              <a:t>Developing</a:t>
            </a:r>
            <a:endParaRPr lang="en-US" sz="900" dirty="0"/>
          </a:p>
        </p:txBody>
      </p:sp>
      <p:sp>
        <p:nvSpPr>
          <p:cNvPr id="9" name="Text 7"/>
          <p:cNvSpPr/>
          <p:nvPr/>
        </p:nvSpPr>
        <p:spPr>
          <a:xfrm>
            <a:off x="6370168" y="1554480"/>
            <a:ext cx="4449928" cy="219456"/>
          </a:xfrm>
          <a:prstGeom prst="rect">
            <a:avLst/>
          </a:prstGeom>
          <a:noFill/>
          <a:ln/>
        </p:spPr>
        <p:txBody>
          <a:bodyPr wrap="square" lIns="0" tIns="0" rIns="0" bIns="0" rtlCol="0" anchor="ctr"/>
          <a:lstStyle/>
          <a:p>
            <a:pPr indent="0" marL="0">
              <a:buNone/>
            </a:pPr>
            <a:r>
              <a:rPr lang="en-US" sz="1100" b="1" dirty="0">
                <a:solidFill>
                  <a:srgbClr val="1F2937"/>
                </a:solidFill>
                <a:latin typeface="Arial" pitchFamily="34" charset="0"/>
                <a:ea typeface="Arial" pitchFamily="34" charset="-122"/>
                <a:cs typeface="Arial" pitchFamily="34" charset="-120"/>
              </a:rPr>
              <a:t>Employee Relevance</a:t>
            </a:r>
            <a:endParaRPr lang="en-US" sz="1100" dirty="0"/>
          </a:p>
        </p:txBody>
      </p:sp>
      <p:sp>
        <p:nvSpPr>
          <p:cNvPr id="10" name="Text 8"/>
          <p:cNvSpPr/>
          <p:nvPr/>
        </p:nvSpPr>
        <p:spPr>
          <a:xfrm>
            <a:off x="10820095" y="1554480"/>
            <a:ext cx="822960" cy="219456"/>
          </a:xfrm>
          <a:prstGeom prst="rect">
            <a:avLst/>
          </a:prstGeom>
          <a:noFill/>
          <a:ln/>
        </p:spPr>
        <p:txBody>
          <a:bodyPr wrap="square" lIns="0" tIns="0" rIns="0" bIns="0" rtlCol="0" anchor="ctr"/>
          <a:lstStyle/>
          <a:p>
            <a:pPr algn="r" indent="0" marL="0">
              <a:buNone/>
            </a:pPr>
            <a:r>
              <a:rPr lang="en-US" sz="1100" b="1" dirty="0">
                <a:solidFill>
                  <a:srgbClr val="1F2937"/>
                </a:solidFill>
                <a:latin typeface="Arial" pitchFamily="34" charset="0"/>
                <a:ea typeface="Arial" pitchFamily="34" charset="-122"/>
                <a:cs typeface="Arial" pitchFamily="34" charset="-120"/>
              </a:rPr>
              <a:t>55 / 100</a:t>
            </a:r>
            <a:endParaRPr lang="en-US" sz="1100" dirty="0"/>
          </a:p>
        </p:txBody>
      </p:sp>
      <p:sp>
        <p:nvSpPr>
          <p:cNvPr id="11" name="Shape 9"/>
          <p:cNvSpPr/>
          <p:nvPr/>
        </p:nvSpPr>
        <p:spPr>
          <a:xfrm>
            <a:off x="6370168" y="1828800"/>
            <a:ext cx="5272888" cy="128016"/>
          </a:xfrm>
          <a:prstGeom prst="rect">
            <a:avLst/>
          </a:prstGeom>
          <a:solidFill>
            <a:srgbClr val="E8EBEF"/>
          </a:solidFill>
          <a:ln/>
        </p:spPr>
      </p:sp>
      <p:sp>
        <p:nvSpPr>
          <p:cNvPr id="12" name="Shape 10"/>
          <p:cNvSpPr/>
          <p:nvPr/>
        </p:nvSpPr>
        <p:spPr>
          <a:xfrm>
            <a:off x="6370168" y="1828800"/>
            <a:ext cx="2900088" cy="128016"/>
          </a:xfrm>
          <a:prstGeom prst="rect">
            <a:avLst/>
          </a:prstGeom>
          <a:solidFill>
            <a:srgbClr val="E8813A"/>
          </a:solidFill>
          <a:ln/>
        </p:spPr>
      </p:sp>
      <p:sp>
        <p:nvSpPr>
          <p:cNvPr id="13" name="Text 11"/>
          <p:cNvSpPr/>
          <p:nvPr/>
        </p:nvSpPr>
        <p:spPr>
          <a:xfrm>
            <a:off x="6370168" y="1993392"/>
            <a:ext cx="5272888" cy="182880"/>
          </a:xfrm>
          <a:prstGeom prst="rect">
            <a:avLst/>
          </a:prstGeom>
          <a:noFill/>
          <a:ln/>
        </p:spPr>
        <p:txBody>
          <a:bodyPr wrap="square" lIns="0" tIns="0" rIns="0" bIns="0" rtlCol="0" anchor="ctr"/>
          <a:lstStyle/>
          <a:p>
            <a:pPr indent="0" marL="0">
              <a:buNone/>
            </a:pPr>
            <a:r>
              <a:rPr lang="en-US" sz="900" dirty="0">
                <a:solidFill>
                  <a:srgbClr val="667085"/>
                </a:solidFill>
                <a:latin typeface="Arial" pitchFamily="34" charset="0"/>
                <a:ea typeface="Arial" pitchFamily="34" charset="-122"/>
                <a:cs typeface="Arial" pitchFamily="34" charset="-120"/>
              </a:rPr>
              <a:t>Established</a:t>
            </a:r>
            <a:endParaRPr lang="en-US" sz="900" dirty="0"/>
          </a:p>
        </p:txBody>
      </p:sp>
      <p:sp>
        <p:nvSpPr>
          <p:cNvPr id="14" name="Text 12"/>
          <p:cNvSpPr/>
          <p:nvPr/>
        </p:nvSpPr>
        <p:spPr>
          <a:xfrm>
            <a:off x="548640" y="2423160"/>
            <a:ext cx="4449928" cy="219456"/>
          </a:xfrm>
          <a:prstGeom prst="rect">
            <a:avLst/>
          </a:prstGeom>
          <a:noFill/>
          <a:ln/>
        </p:spPr>
        <p:txBody>
          <a:bodyPr wrap="square" lIns="0" tIns="0" rIns="0" bIns="0" rtlCol="0" anchor="ctr"/>
          <a:lstStyle/>
          <a:p>
            <a:pPr indent="0" marL="0">
              <a:buNone/>
            </a:pPr>
            <a:r>
              <a:rPr lang="en-US" sz="1100" b="1" dirty="0">
                <a:solidFill>
                  <a:srgbClr val="1F2937"/>
                </a:solidFill>
                <a:latin typeface="Arial" pitchFamily="34" charset="0"/>
                <a:ea typeface="Arial" pitchFamily="34" charset="-122"/>
                <a:cs typeface="Arial" pitchFamily="34" charset="-120"/>
              </a:rPr>
              <a:t>Engagement and Communication</a:t>
            </a:r>
            <a:endParaRPr lang="en-US" sz="1100" dirty="0"/>
          </a:p>
        </p:txBody>
      </p:sp>
      <p:sp>
        <p:nvSpPr>
          <p:cNvPr id="15" name="Text 13"/>
          <p:cNvSpPr/>
          <p:nvPr/>
        </p:nvSpPr>
        <p:spPr>
          <a:xfrm>
            <a:off x="4998568" y="2423160"/>
            <a:ext cx="822960" cy="219456"/>
          </a:xfrm>
          <a:prstGeom prst="rect">
            <a:avLst/>
          </a:prstGeom>
          <a:noFill/>
          <a:ln/>
        </p:spPr>
        <p:txBody>
          <a:bodyPr wrap="square" lIns="0" tIns="0" rIns="0" bIns="0" rtlCol="0" anchor="ctr"/>
          <a:lstStyle/>
          <a:p>
            <a:pPr algn="r" indent="0" marL="0">
              <a:buNone/>
            </a:pPr>
            <a:r>
              <a:rPr lang="en-US" sz="1100" b="1" dirty="0">
                <a:solidFill>
                  <a:srgbClr val="1F2937"/>
                </a:solidFill>
                <a:latin typeface="Arial" pitchFamily="34" charset="0"/>
                <a:ea typeface="Arial" pitchFamily="34" charset="-122"/>
                <a:cs typeface="Arial" pitchFamily="34" charset="-120"/>
              </a:rPr>
              <a:t>64 / 100</a:t>
            </a:r>
            <a:endParaRPr lang="en-US" sz="1100" dirty="0"/>
          </a:p>
        </p:txBody>
      </p:sp>
      <p:sp>
        <p:nvSpPr>
          <p:cNvPr id="16" name="Shape 14"/>
          <p:cNvSpPr/>
          <p:nvPr/>
        </p:nvSpPr>
        <p:spPr>
          <a:xfrm>
            <a:off x="548640" y="2697480"/>
            <a:ext cx="5272888" cy="128016"/>
          </a:xfrm>
          <a:prstGeom prst="rect">
            <a:avLst/>
          </a:prstGeom>
          <a:solidFill>
            <a:srgbClr val="E8EBEF"/>
          </a:solidFill>
          <a:ln/>
        </p:spPr>
      </p:sp>
      <p:sp>
        <p:nvSpPr>
          <p:cNvPr id="17" name="Shape 15"/>
          <p:cNvSpPr/>
          <p:nvPr/>
        </p:nvSpPr>
        <p:spPr>
          <a:xfrm>
            <a:off x="548640" y="2697480"/>
            <a:ext cx="3374648" cy="128016"/>
          </a:xfrm>
          <a:prstGeom prst="rect">
            <a:avLst/>
          </a:prstGeom>
          <a:solidFill>
            <a:srgbClr val="E8813A"/>
          </a:solidFill>
          <a:ln/>
        </p:spPr>
      </p:sp>
      <p:sp>
        <p:nvSpPr>
          <p:cNvPr id="18" name="Text 16"/>
          <p:cNvSpPr/>
          <p:nvPr/>
        </p:nvSpPr>
        <p:spPr>
          <a:xfrm>
            <a:off x="548640" y="2862072"/>
            <a:ext cx="5272888" cy="182880"/>
          </a:xfrm>
          <a:prstGeom prst="rect">
            <a:avLst/>
          </a:prstGeom>
          <a:noFill/>
          <a:ln/>
        </p:spPr>
        <p:txBody>
          <a:bodyPr wrap="square" lIns="0" tIns="0" rIns="0" bIns="0" rtlCol="0" anchor="ctr"/>
          <a:lstStyle/>
          <a:p>
            <a:pPr indent="0" marL="0">
              <a:buNone/>
            </a:pPr>
            <a:r>
              <a:rPr lang="en-US" sz="900" dirty="0">
                <a:solidFill>
                  <a:srgbClr val="667085"/>
                </a:solidFill>
                <a:latin typeface="Arial" pitchFamily="34" charset="0"/>
                <a:ea typeface="Arial" pitchFamily="34" charset="-122"/>
                <a:cs typeface="Arial" pitchFamily="34" charset="-120"/>
              </a:rPr>
              <a:t>Established</a:t>
            </a:r>
            <a:endParaRPr lang="en-US" sz="900" dirty="0"/>
          </a:p>
        </p:txBody>
      </p:sp>
      <p:sp>
        <p:nvSpPr>
          <p:cNvPr id="19" name="Text 17"/>
          <p:cNvSpPr/>
          <p:nvPr/>
        </p:nvSpPr>
        <p:spPr>
          <a:xfrm>
            <a:off x="6370168" y="2423160"/>
            <a:ext cx="4449928" cy="219456"/>
          </a:xfrm>
          <a:prstGeom prst="rect">
            <a:avLst/>
          </a:prstGeom>
          <a:noFill/>
          <a:ln/>
        </p:spPr>
        <p:txBody>
          <a:bodyPr wrap="square" lIns="0" tIns="0" rIns="0" bIns="0" rtlCol="0" anchor="ctr"/>
          <a:lstStyle/>
          <a:p>
            <a:pPr indent="0" marL="0">
              <a:buNone/>
            </a:pPr>
            <a:r>
              <a:rPr lang="en-US" sz="1100" b="1" dirty="0">
                <a:solidFill>
                  <a:srgbClr val="1F2937"/>
                </a:solidFill>
                <a:latin typeface="Arial" pitchFamily="34" charset="0"/>
                <a:ea typeface="Arial" pitchFamily="34" charset="-122"/>
                <a:cs typeface="Arial" pitchFamily="34" charset="-120"/>
              </a:rPr>
              <a:t>Experience and Access</a:t>
            </a:r>
            <a:endParaRPr lang="en-US" sz="1100" dirty="0"/>
          </a:p>
        </p:txBody>
      </p:sp>
      <p:sp>
        <p:nvSpPr>
          <p:cNvPr id="20" name="Text 18"/>
          <p:cNvSpPr/>
          <p:nvPr/>
        </p:nvSpPr>
        <p:spPr>
          <a:xfrm>
            <a:off x="10820095" y="2423160"/>
            <a:ext cx="822960" cy="219456"/>
          </a:xfrm>
          <a:prstGeom prst="rect">
            <a:avLst/>
          </a:prstGeom>
          <a:noFill/>
          <a:ln/>
        </p:spPr>
        <p:txBody>
          <a:bodyPr wrap="square" lIns="0" tIns="0" rIns="0" bIns="0" rtlCol="0" anchor="ctr"/>
          <a:lstStyle/>
          <a:p>
            <a:pPr algn="r" indent="0" marL="0">
              <a:buNone/>
            </a:pPr>
            <a:r>
              <a:rPr lang="en-US" sz="1100" b="1" dirty="0">
                <a:solidFill>
                  <a:srgbClr val="1F2937"/>
                </a:solidFill>
                <a:latin typeface="Arial" pitchFamily="34" charset="0"/>
                <a:ea typeface="Arial" pitchFamily="34" charset="-122"/>
                <a:cs typeface="Arial" pitchFamily="34" charset="-120"/>
              </a:rPr>
              <a:t>55 / 100</a:t>
            </a:r>
            <a:endParaRPr lang="en-US" sz="1100" dirty="0"/>
          </a:p>
        </p:txBody>
      </p:sp>
      <p:sp>
        <p:nvSpPr>
          <p:cNvPr id="21" name="Shape 19"/>
          <p:cNvSpPr/>
          <p:nvPr/>
        </p:nvSpPr>
        <p:spPr>
          <a:xfrm>
            <a:off x="6370168" y="2697480"/>
            <a:ext cx="5272888" cy="128016"/>
          </a:xfrm>
          <a:prstGeom prst="rect">
            <a:avLst/>
          </a:prstGeom>
          <a:solidFill>
            <a:srgbClr val="E8EBEF"/>
          </a:solidFill>
          <a:ln/>
        </p:spPr>
      </p:sp>
      <p:sp>
        <p:nvSpPr>
          <p:cNvPr id="22" name="Shape 20"/>
          <p:cNvSpPr/>
          <p:nvPr/>
        </p:nvSpPr>
        <p:spPr>
          <a:xfrm>
            <a:off x="6370168" y="2697480"/>
            <a:ext cx="2900088" cy="128016"/>
          </a:xfrm>
          <a:prstGeom prst="rect">
            <a:avLst/>
          </a:prstGeom>
          <a:solidFill>
            <a:srgbClr val="E8813A"/>
          </a:solidFill>
          <a:ln/>
        </p:spPr>
      </p:sp>
      <p:sp>
        <p:nvSpPr>
          <p:cNvPr id="23" name="Text 21"/>
          <p:cNvSpPr/>
          <p:nvPr/>
        </p:nvSpPr>
        <p:spPr>
          <a:xfrm>
            <a:off x="6370168" y="2862072"/>
            <a:ext cx="5272888" cy="182880"/>
          </a:xfrm>
          <a:prstGeom prst="rect">
            <a:avLst/>
          </a:prstGeom>
          <a:noFill/>
          <a:ln/>
        </p:spPr>
        <p:txBody>
          <a:bodyPr wrap="square" lIns="0" tIns="0" rIns="0" bIns="0" rtlCol="0" anchor="ctr"/>
          <a:lstStyle/>
          <a:p>
            <a:pPr indent="0" marL="0">
              <a:buNone/>
            </a:pPr>
            <a:r>
              <a:rPr lang="en-US" sz="900" dirty="0">
                <a:solidFill>
                  <a:srgbClr val="667085"/>
                </a:solidFill>
                <a:latin typeface="Arial" pitchFamily="34" charset="0"/>
                <a:ea typeface="Arial" pitchFamily="34" charset="-122"/>
                <a:cs typeface="Arial" pitchFamily="34" charset="-120"/>
              </a:rPr>
              <a:t>Established</a:t>
            </a:r>
            <a:endParaRPr lang="en-US" sz="900" dirty="0"/>
          </a:p>
        </p:txBody>
      </p:sp>
      <p:sp>
        <p:nvSpPr>
          <p:cNvPr id="24" name="Text 22"/>
          <p:cNvSpPr/>
          <p:nvPr/>
        </p:nvSpPr>
        <p:spPr>
          <a:xfrm>
            <a:off x="548640" y="3291840"/>
            <a:ext cx="4449928" cy="219456"/>
          </a:xfrm>
          <a:prstGeom prst="rect">
            <a:avLst/>
          </a:prstGeom>
          <a:noFill/>
          <a:ln/>
        </p:spPr>
        <p:txBody>
          <a:bodyPr wrap="square" lIns="0" tIns="0" rIns="0" bIns="0" rtlCol="0" anchor="ctr"/>
          <a:lstStyle/>
          <a:p>
            <a:pPr indent="0" marL="0">
              <a:buNone/>
            </a:pPr>
            <a:r>
              <a:rPr lang="en-US" sz="1100" b="1" dirty="0">
                <a:solidFill>
                  <a:srgbClr val="1F2937"/>
                </a:solidFill>
                <a:latin typeface="Arial" pitchFamily="34" charset="0"/>
                <a:ea typeface="Arial" pitchFamily="34" charset="-122"/>
                <a:cs typeface="Arial" pitchFamily="34" charset="-120"/>
              </a:rPr>
              <a:t>Culture and Social Support</a:t>
            </a:r>
            <a:endParaRPr lang="en-US" sz="1100" dirty="0"/>
          </a:p>
        </p:txBody>
      </p:sp>
      <p:sp>
        <p:nvSpPr>
          <p:cNvPr id="25" name="Text 23"/>
          <p:cNvSpPr/>
          <p:nvPr/>
        </p:nvSpPr>
        <p:spPr>
          <a:xfrm>
            <a:off x="4998568" y="3291840"/>
            <a:ext cx="822960" cy="219456"/>
          </a:xfrm>
          <a:prstGeom prst="rect">
            <a:avLst/>
          </a:prstGeom>
          <a:noFill/>
          <a:ln/>
        </p:spPr>
        <p:txBody>
          <a:bodyPr wrap="square" lIns="0" tIns="0" rIns="0" bIns="0" rtlCol="0" anchor="ctr"/>
          <a:lstStyle/>
          <a:p>
            <a:pPr algn="r" indent="0" marL="0">
              <a:buNone/>
            </a:pPr>
            <a:r>
              <a:rPr lang="en-US" sz="1100" b="1" dirty="0">
                <a:solidFill>
                  <a:srgbClr val="1F2937"/>
                </a:solidFill>
                <a:latin typeface="Arial" pitchFamily="34" charset="0"/>
                <a:ea typeface="Arial" pitchFamily="34" charset="-122"/>
                <a:cs typeface="Arial" pitchFamily="34" charset="-120"/>
              </a:rPr>
              <a:t>50 / 100</a:t>
            </a:r>
            <a:endParaRPr lang="en-US" sz="1100" dirty="0"/>
          </a:p>
        </p:txBody>
      </p:sp>
      <p:sp>
        <p:nvSpPr>
          <p:cNvPr id="26" name="Shape 24"/>
          <p:cNvSpPr/>
          <p:nvPr/>
        </p:nvSpPr>
        <p:spPr>
          <a:xfrm>
            <a:off x="548640" y="3566160"/>
            <a:ext cx="5272888" cy="128016"/>
          </a:xfrm>
          <a:prstGeom prst="rect">
            <a:avLst/>
          </a:prstGeom>
          <a:solidFill>
            <a:srgbClr val="E8EBEF"/>
          </a:solidFill>
          <a:ln/>
        </p:spPr>
      </p:sp>
      <p:sp>
        <p:nvSpPr>
          <p:cNvPr id="27" name="Shape 25"/>
          <p:cNvSpPr/>
          <p:nvPr/>
        </p:nvSpPr>
        <p:spPr>
          <a:xfrm>
            <a:off x="548640" y="3566160"/>
            <a:ext cx="2636444" cy="128016"/>
          </a:xfrm>
          <a:prstGeom prst="rect">
            <a:avLst/>
          </a:prstGeom>
          <a:solidFill>
            <a:srgbClr val="5C7C99"/>
          </a:solidFill>
          <a:ln/>
        </p:spPr>
      </p:sp>
      <p:sp>
        <p:nvSpPr>
          <p:cNvPr id="28" name="Text 26"/>
          <p:cNvSpPr/>
          <p:nvPr/>
        </p:nvSpPr>
        <p:spPr>
          <a:xfrm>
            <a:off x="548640" y="3730752"/>
            <a:ext cx="5272888" cy="182880"/>
          </a:xfrm>
          <a:prstGeom prst="rect">
            <a:avLst/>
          </a:prstGeom>
          <a:noFill/>
          <a:ln/>
        </p:spPr>
        <p:txBody>
          <a:bodyPr wrap="square" lIns="0" tIns="0" rIns="0" bIns="0" rtlCol="0" anchor="ctr"/>
          <a:lstStyle/>
          <a:p>
            <a:pPr indent="0" marL="0">
              <a:buNone/>
            </a:pPr>
            <a:r>
              <a:rPr lang="en-US" sz="900" dirty="0">
                <a:solidFill>
                  <a:srgbClr val="667085"/>
                </a:solidFill>
                <a:latin typeface="Arial" pitchFamily="34" charset="0"/>
                <a:ea typeface="Arial" pitchFamily="34" charset="-122"/>
                <a:cs typeface="Arial" pitchFamily="34" charset="-120"/>
              </a:rPr>
              <a:t>Developing</a:t>
            </a:r>
            <a:endParaRPr lang="en-US" sz="900" dirty="0"/>
          </a:p>
        </p:txBody>
      </p:sp>
      <p:sp>
        <p:nvSpPr>
          <p:cNvPr id="29" name="Text 27"/>
          <p:cNvSpPr/>
          <p:nvPr/>
        </p:nvSpPr>
        <p:spPr>
          <a:xfrm>
            <a:off x="6370168" y="3291840"/>
            <a:ext cx="4449928" cy="219456"/>
          </a:xfrm>
          <a:prstGeom prst="rect">
            <a:avLst/>
          </a:prstGeom>
          <a:noFill/>
          <a:ln/>
        </p:spPr>
        <p:txBody>
          <a:bodyPr wrap="square" lIns="0" tIns="0" rIns="0" bIns="0" rtlCol="0" anchor="ctr"/>
          <a:lstStyle/>
          <a:p>
            <a:pPr indent="0" marL="0">
              <a:buNone/>
            </a:pPr>
            <a:r>
              <a:rPr lang="en-US" sz="1100" b="1" dirty="0">
                <a:solidFill>
                  <a:srgbClr val="1F2937"/>
                </a:solidFill>
                <a:latin typeface="Arial" pitchFamily="34" charset="0"/>
                <a:ea typeface="Arial" pitchFamily="34" charset="-122"/>
                <a:cs typeface="Arial" pitchFamily="34" charset="-120"/>
              </a:rPr>
              <a:t>Measurement and Improvement</a:t>
            </a:r>
            <a:endParaRPr lang="en-US" sz="1100" dirty="0"/>
          </a:p>
        </p:txBody>
      </p:sp>
      <p:sp>
        <p:nvSpPr>
          <p:cNvPr id="30" name="Text 28"/>
          <p:cNvSpPr/>
          <p:nvPr/>
        </p:nvSpPr>
        <p:spPr>
          <a:xfrm>
            <a:off x="10820095" y="3291840"/>
            <a:ext cx="822960" cy="219456"/>
          </a:xfrm>
          <a:prstGeom prst="rect">
            <a:avLst/>
          </a:prstGeom>
          <a:noFill/>
          <a:ln/>
        </p:spPr>
        <p:txBody>
          <a:bodyPr wrap="square" lIns="0" tIns="0" rIns="0" bIns="0" rtlCol="0" anchor="ctr"/>
          <a:lstStyle/>
          <a:p>
            <a:pPr algn="r" indent="0" marL="0">
              <a:buNone/>
            </a:pPr>
            <a:r>
              <a:rPr lang="en-US" sz="1100" b="1" dirty="0">
                <a:solidFill>
                  <a:srgbClr val="1F2937"/>
                </a:solidFill>
                <a:latin typeface="Arial" pitchFamily="34" charset="0"/>
                <a:ea typeface="Arial" pitchFamily="34" charset="-122"/>
                <a:cs typeface="Arial" pitchFamily="34" charset="-120"/>
              </a:rPr>
              <a:t>55 / 100</a:t>
            </a:r>
            <a:endParaRPr lang="en-US" sz="1100" dirty="0"/>
          </a:p>
        </p:txBody>
      </p:sp>
      <p:sp>
        <p:nvSpPr>
          <p:cNvPr id="31" name="Shape 29"/>
          <p:cNvSpPr/>
          <p:nvPr/>
        </p:nvSpPr>
        <p:spPr>
          <a:xfrm>
            <a:off x="6370168" y="3566160"/>
            <a:ext cx="5272888" cy="128016"/>
          </a:xfrm>
          <a:prstGeom prst="rect">
            <a:avLst/>
          </a:prstGeom>
          <a:solidFill>
            <a:srgbClr val="E8EBEF"/>
          </a:solidFill>
          <a:ln/>
        </p:spPr>
      </p:sp>
      <p:sp>
        <p:nvSpPr>
          <p:cNvPr id="32" name="Shape 30"/>
          <p:cNvSpPr/>
          <p:nvPr/>
        </p:nvSpPr>
        <p:spPr>
          <a:xfrm>
            <a:off x="6370168" y="3566160"/>
            <a:ext cx="2900088" cy="128016"/>
          </a:xfrm>
          <a:prstGeom prst="rect">
            <a:avLst/>
          </a:prstGeom>
          <a:solidFill>
            <a:srgbClr val="E8813A"/>
          </a:solidFill>
          <a:ln/>
        </p:spPr>
      </p:sp>
      <p:sp>
        <p:nvSpPr>
          <p:cNvPr id="33" name="Text 31"/>
          <p:cNvSpPr/>
          <p:nvPr/>
        </p:nvSpPr>
        <p:spPr>
          <a:xfrm>
            <a:off x="6370168" y="3730752"/>
            <a:ext cx="5272888" cy="182880"/>
          </a:xfrm>
          <a:prstGeom prst="rect">
            <a:avLst/>
          </a:prstGeom>
          <a:noFill/>
          <a:ln/>
        </p:spPr>
        <p:txBody>
          <a:bodyPr wrap="square" lIns="0" tIns="0" rIns="0" bIns="0" rtlCol="0" anchor="ctr"/>
          <a:lstStyle/>
          <a:p>
            <a:pPr indent="0" marL="0">
              <a:buNone/>
            </a:pPr>
            <a:r>
              <a:rPr lang="en-US" sz="900" dirty="0">
                <a:solidFill>
                  <a:srgbClr val="667085"/>
                </a:solidFill>
                <a:latin typeface="Arial" pitchFamily="34" charset="0"/>
                <a:ea typeface="Arial" pitchFamily="34" charset="-122"/>
                <a:cs typeface="Arial" pitchFamily="34" charset="-120"/>
              </a:rPr>
              <a:t>Established</a:t>
            </a:r>
            <a:endParaRPr lang="en-US" sz="900" dirty="0"/>
          </a:p>
        </p:txBody>
      </p:sp>
      <p:sp>
        <p:nvSpPr>
          <p:cNvPr id="34" name="Text 32"/>
          <p:cNvSpPr/>
          <p:nvPr/>
        </p:nvSpPr>
        <p:spPr>
          <a:xfrm>
            <a:off x="548640" y="6492240"/>
            <a:ext cx="2743200" cy="274320"/>
          </a:xfrm>
          <a:prstGeom prst="rect">
            <a:avLst/>
          </a:prstGeom>
          <a:noFill/>
          <a:ln/>
        </p:spPr>
        <p:txBody>
          <a:bodyPr wrap="square" rtlCol="0" anchor="ctr"/>
          <a:lstStyle/>
          <a:p>
            <a:pPr indent="0" marL="0">
              <a:buNone/>
            </a:pPr>
            <a:r>
              <a:rPr lang="en-US" sz="800" i="1" dirty="0">
                <a:solidFill>
                  <a:srgbClr val="667085"/>
                </a:solidFill>
                <a:latin typeface="Arial" pitchFamily="34" charset="0"/>
                <a:ea typeface="Arial" pitchFamily="34" charset="-122"/>
                <a:cs typeface="Arial" pitchFamily="34" charset="-120"/>
              </a:rPr>
              <a:t>Powered by Propel</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457200"/>
          </a:xfrm>
          <a:prstGeom prst="rect">
            <a:avLst/>
          </a:prstGeom>
          <a:noFill/>
          <a:ln/>
        </p:spPr>
        <p:txBody>
          <a:bodyPr wrap="square" rtlCol="0" anchor="ctr"/>
          <a:lstStyle/>
          <a:p>
            <a:pPr indent="0" marL="0">
              <a:buNone/>
            </a:pPr>
            <a:r>
              <a:rPr lang="en-US" sz="2400" b="1" dirty="0">
                <a:solidFill>
                  <a:srgbClr val="132340"/>
                </a:solidFill>
                <a:latin typeface="Arial" pitchFamily="34" charset="0"/>
                <a:ea typeface="Arial" pitchFamily="34" charset="-122"/>
                <a:cs typeface="Arial" pitchFamily="34" charset="-120"/>
              </a:rPr>
              <a:t>Behavioral Readiness</a:t>
            </a:r>
            <a:endParaRPr lang="en-US" sz="2400" dirty="0"/>
          </a:p>
        </p:txBody>
      </p:sp>
      <p:sp>
        <p:nvSpPr>
          <p:cNvPr id="3" name="Text 1"/>
          <p:cNvSpPr/>
          <p:nvPr/>
        </p:nvSpPr>
        <p:spPr>
          <a:xfrm>
            <a:off x="548640" y="914400"/>
            <a:ext cx="10058400" cy="274320"/>
          </a:xfrm>
          <a:prstGeom prst="rect">
            <a:avLst/>
          </a:prstGeom>
          <a:noFill/>
          <a:ln/>
        </p:spPr>
        <p:txBody>
          <a:bodyPr wrap="square" rtlCol="0" anchor="ctr"/>
          <a:lstStyle/>
          <a:p>
            <a:pPr indent="0" marL="0">
              <a:buNone/>
            </a:pPr>
            <a:r>
              <a:rPr lang="en-US" sz="1100" i="1" dirty="0">
                <a:solidFill>
                  <a:srgbClr val="667085"/>
                </a:solidFill>
                <a:latin typeface="Arial" pitchFamily="34" charset="0"/>
                <a:ea typeface="Arial" pitchFamily="34" charset="-122"/>
                <a:cs typeface="Arial" pitchFamily="34" charset="-120"/>
              </a:rPr>
              <a:t>Higher scores indicate stronger behavioral support for well-being participation.</a:t>
            </a:r>
            <a:endParaRPr lang="en-US" sz="1100" dirty="0"/>
          </a:p>
        </p:txBody>
      </p:sp>
      <p:sp>
        <p:nvSpPr>
          <p:cNvPr id="4" name="Text 2"/>
          <p:cNvSpPr/>
          <p:nvPr/>
        </p:nvSpPr>
        <p:spPr>
          <a:xfrm>
            <a:off x="548640" y="1554480"/>
            <a:ext cx="4449928" cy="219456"/>
          </a:xfrm>
          <a:prstGeom prst="rect">
            <a:avLst/>
          </a:prstGeom>
          <a:noFill/>
          <a:ln/>
        </p:spPr>
        <p:txBody>
          <a:bodyPr wrap="square" lIns="0" tIns="0" rIns="0" bIns="0" rtlCol="0" anchor="ctr"/>
          <a:lstStyle/>
          <a:p>
            <a:pPr indent="0" marL="0">
              <a:buNone/>
            </a:pPr>
            <a:r>
              <a:rPr lang="en-US" sz="1100" b="1" dirty="0">
                <a:solidFill>
                  <a:srgbClr val="1F2937"/>
                </a:solidFill>
                <a:latin typeface="Arial" pitchFamily="34" charset="0"/>
                <a:ea typeface="Arial" pitchFamily="34" charset="-122"/>
                <a:cs typeface="Arial" pitchFamily="34" charset="-120"/>
              </a:rPr>
              <a:t>Clarity of Value</a:t>
            </a:r>
            <a:endParaRPr lang="en-US" sz="1100" dirty="0"/>
          </a:p>
        </p:txBody>
      </p:sp>
      <p:sp>
        <p:nvSpPr>
          <p:cNvPr id="5" name="Text 3"/>
          <p:cNvSpPr/>
          <p:nvPr/>
        </p:nvSpPr>
        <p:spPr>
          <a:xfrm>
            <a:off x="4998568" y="1554480"/>
            <a:ext cx="822960" cy="219456"/>
          </a:xfrm>
          <a:prstGeom prst="rect">
            <a:avLst/>
          </a:prstGeom>
          <a:noFill/>
          <a:ln/>
        </p:spPr>
        <p:txBody>
          <a:bodyPr wrap="square" lIns="0" tIns="0" rIns="0" bIns="0" rtlCol="0" anchor="ctr"/>
          <a:lstStyle/>
          <a:p>
            <a:pPr algn="r" indent="0" marL="0">
              <a:buNone/>
            </a:pPr>
            <a:r>
              <a:rPr lang="en-US" sz="1100" b="1" dirty="0">
                <a:solidFill>
                  <a:srgbClr val="1F2937"/>
                </a:solidFill>
                <a:latin typeface="Arial" pitchFamily="34" charset="0"/>
                <a:ea typeface="Arial" pitchFamily="34" charset="-122"/>
                <a:cs typeface="Arial" pitchFamily="34" charset="-120"/>
              </a:rPr>
              <a:t>54 / 100</a:t>
            </a:r>
            <a:endParaRPr lang="en-US" sz="1100" dirty="0"/>
          </a:p>
        </p:txBody>
      </p:sp>
      <p:sp>
        <p:nvSpPr>
          <p:cNvPr id="6" name="Shape 4"/>
          <p:cNvSpPr/>
          <p:nvPr/>
        </p:nvSpPr>
        <p:spPr>
          <a:xfrm>
            <a:off x="548640" y="1828800"/>
            <a:ext cx="5272888" cy="128016"/>
          </a:xfrm>
          <a:prstGeom prst="rect">
            <a:avLst/>
          </a:prstGeom>
          <a:solidFill>
            <a:srgbClr val="E8EBEF"/>
          </a:solidFill>
          <a:ln/>
        </p:spPr>
      </p:sp>
      <p:sp>
        <p:nvSpPr>
          <p:cNvPr id="7" name="Shape 5"/>
          <p:cNvSpPr/>
          <p:nvPr/>
        </p:nvSpPr>
        <p:spPr>
          <a:xfrm>
            <a:off x="548640" y="1828800"/>
            <a:ext cx="2847359" cy="128016"/>
          </a:xfrm>
          <a:prstGeom prst="rect">
            <a:avLst/>
          </a:prstGeom>
          <a:solidFill>
            <a:srgbClr val="E8813A"/>
          </a:solidFill>
          <a:ln/>
        </p:spPr>
      </p:sp>
      <p:sp>
        <p:nvSpPr>
          <p:cNvPr id="8" name="Text 6"/>
          <p:cNvSpPr/>
          <p:nvPr/>
        </p:nvSpPr>
        <p:spPr>
          <a:xfrm>
            <a:off x="548640" y="1993392"/>
            <a:ext cx="5272888" cy="182880"/>
          </a:xfrm>
          <a:prstGeom prst="rect">
            <a:avLst/>
          </a:prstGeom>
          <a:noFill/>
          <a:ln/>
        </p:spPr>
        <p:txBody>
          <a:bodyPr wrap="square" lIns="0" tIns="0" rIns="0" bIns="0" rtlCol="0" anchor="ctr"/>
          <a:lstStyle/>
          <a:p>
            <a:pPr indent="0" marL="0">
              <a:buNone/>
            </a:pPr>
            <a:r>
              <a:rPr lang="en-US" sz="900" dirty="0">
                <a:solidFill>
                  <a:srgbClr val="667085"/>
                </a:solidFill>
                <a:latin typeface="Arial" pitchFamily="34" charset="0"/>
                <a:ea typeface="Arial" pitchFamily="34" charset="-122"/>
                <a:cs typeface="Arial" pitchFamily="34" charset="-120"/>
              </a:rPr>
              <a:t>Meaningful barriers</a:t>
            </a:r>
            <a:endParaRPr lang="en-US" sz="900" dirty="0"/>
          </a:p>
        </p:txBody>
      </p:sp>
      <p:sp>
        <p:nvSpPr>
          <p:cNvPr id="9" name="Text 7"/>
          <p:cNvSpPr/>
          <p:nvPr/>
        </p:nvSpPr>
        <p:spPr>
          <a:xfrm>
            <a:off x="548640" y="2148840"/>
            <a:ext cx="5272888" cy="640080"/>
          </a:xfrm>
          <a:prstGeom prst="rect">
            <a:avLst/>
          </a:prstGeom>
          <a:noFill/>
          <a:ln/>
        </p:spPr>
        <p:txBody>
          <a:bodyPr wrap="square" lIns="0" tIns="0" rIns="0" bIns="0" rtlCol="0" anchor="t"/>
          <a:lstStyle/>
          <a:p>
            <a:pPr indent="0" marL="0">
              <a:buNone/>
            </a:pPr>
            <a:r>
              <a:rPr lang="en-US" sz="1000" dirty="0">
                <a:solidFill>
                  <a:srgbClr val="667085"/>
                </a:solidFill>
                <a:latin typeface="Arial" pitchFamily="34" charset="0"/>
                <a:ea typeface="Arial" pitchFamily="34" charset="-122"/>
                <a:cs typeface="Arial" pitchFamily="34" charset="-120"/>
              </a:rPr>
              <a:t>The well-being program’s value and next actions are presented clearly to employees.</a:t>
            </a:r>
            <a:endParaRPr lang="en-US" sz="1000" dirty="0"/>
          </a:p>
        </p:txBody>
      </p:sp>
      <p:sp>
        <p:nvSpPr>
          <p:cNvPr id="10" name="Text 8"/>
          <p:cNvSpPr/>
          <p:nvPr/>
        </p:nvSpPr>
        <p:spPr>
          <a:xfrm>
            <a:off x="6370168" y="1554480"/>
            <a:ext cx="4449928" cy="219456"/>
          </a:xfrm>
          <a:prstGeom prst="rect">
            <a:avLst/>
          </a:prstGeom>
          <a:noFill/>
          <a:ln/>
        </p:spPr>
        <p:txBody>
          <a:bodyPr wrap="square" lIns="0" tIns="0" rIns="0" bIns="0" rtlCol="0" anchor="ctr"/>
          <a:lstStyle/>
          <a:p>
            <a:pPr indent="0" marL="0">
              <a:buNone/>
            </a:pPr>
            <a:r>
              <a:rPr lang="en-US" sz="1100" b="1" dirty="0">
                <a:solidFill>
                  <a:srgbClr val="1F2937"/>
                </a:solidFill>
                <a:latin typeface="Arial" pitchFamily="34" charset="0"/>
                <a:ea typeface="Arial" pitchFamily="34" charset="-122"/>
                <a:cs typeface="Arial" pitchFamily="34" charset="-120"/>
              </a:rPr>
              <a:t>Motivation and Overcoming Inertia</a:t>
            </a:r>
            <a:endParaRPr lang="en-US" sz="1100" dirty="0"/>
          </a:p>
        </p:txBody>
      </p:sp>
      <p:sp>
        <p:nvSpPr>
          <p:cNvPr id="11" name="Text 9"/>
          <p:cNvSpPr/>
          <p:nvPr/>
        </p:nvSpPr>
        <p:spPr>
          <a:xfrm>
            <a:off x="10820095" y="1554480"/>
            <a:ext cx="822960" cy="219456"/>
          </a:xfrm>
          <a:prstGeom prst="rect">
            <a:avLst/>
          </a:prstGeom>
          <a:noFill/>
          <a:ln/>
        </p:spPr>
        <p:txBody>
          <a:bodyPr wrap="square" lIns="0" tIns="0" rIns="0" bIns="0" rtlCol="0" anchor="ctr"/>
          <a:lstStyle/>
          <a:p>
            <a:pPr algn="r" indent="0" marL="0">
              <a:buNone/>
            </a:pPr>
            <a:r>
              <a:rPr lang="en-US" sz="1100" b="1" dirty="0">
                <a:solidFill>
                  <a:srgbClr val="1F2937"/>
                </a:solidFill>
                <a:latin typeface="Arial" pitchFamily="34" charset="0"/>
                <a:ea typeface="Arial" pitchFamily="34" charset="-122"/>
                <a:cs typeface="Arial" pitchFamily="34" charset="-120"/>
              </a:rPr>
              <a:t>65 / 100</a:t>
            </a:r>
            <a:endParaRPr lang="en-US" sz="1100" dirty="0"/>
          </a:p>
        </p:txBody>
      </p:sp>
      <p:sp>
        <p:nvSpPr>
          <p:cNvPr id="12" name="Shape 10"/>
          <p:cNvSpPr/>
          <p:nvPr/>
        </p:nvSpPr>
        <p:spPr>
          <a:xfrm>
            <a:off x="6370168" y="1828800"/>
            <a:ext cx="5272888" cy="128016"/>
          </a:xfrm>
          <a:prstGeom prst="rect">
            <a:avLst/>
          </a:prstGeom>
          <a:solidFill>
            <a:srgbClr val="E8EBEF"/>
          </a:solidFill>
          <a:ln/>
        </p:spPr>
      </p:sp>
      <p:sp>
        <p:nvSpPr>
          <p:cNvPr id="13" name="Shape 11"/>
          <p:cNvSpPr/>
          <p:nvPr/>
        </p:nvSpPr>
        <p:spPr>
          <a:xfrm>
            <a:off x="6370168" y="1828800"/>
            <a:ext cx="3427377" cy="128016"/>
          </a:xfrm>
          <a:prstGeom prst="rect">
            <a:avLst/>
          </a:prstGeom>
          <a:solidFill>
            <a:srgbClr val="7CB342"/>
          </a:solidFill>
          <a:ln/>
        </p:spPr>
      </p:sp>
      <p:sp>
        <p:nvSpPr>
          <p:cNvPr id="14" name="Text 12"/>
          <p:cNvSpPr/>
          <p:nvPr/>
        </p:nvSpPr>
        <p:spPr>
          <a:xfrm>
            <a:off x="6370168" y="1993392"/>
            <a:ext cx="5272888" cy="182880"/>
          </a:xfrm>
          <a:prstGeom prst="rect">
            <a:avLst/>
          </a:prstGeom>
          <a:noFill/>
          <a:ln/>
        </p:spPr>
        <p:txBody>
          <a:bodyPr wrap="square" lIns="0" tIns="0" rIns="0" bIns="0" rtlCol="0" anchor="ctr"/>
          <a:lstStyle/>
          <a:p>
            <a:pPr indent="0" marL="0">
              <a:buNone/>
            </a:pPr>
            <a:r>
              <a:rPr lang="en-US" sz="900" dirty="0">
                <a:solidFill>
                  <a:srgbClr val="667085"/>
                </a:solidFill>
                <a:latin typeface="Arial" pitchFamily="34" charset="0"/>
                <a:ea typeface="Arial" pitchFamily="34" charset="-122"/>
                <a:cs typeface="Arial" pitchFamily="34" charset="-120"/>
              </a:rPr>
              <a:t>Generally supportive</a:t>
            </a:r>
            <a:endParaRPr lang="en-US" sz="900" dirty="0"/>
          </a:p>
        </p:txBody>
      </p:sp>
      <p:sp>
        <p:nvSpPr>
          <p:cNvPr id="15" name="Text 13"/>
          <p:cNvSpPr/>
          <p:nvPr/>
        </p:nvSpPr>
        <p:spPr>
          <a:xfrm>
            <a:off x="6370168" y="2148840"/>
            <a:ext cx="5272888" cy="640080"/>
          </a:xfrm>
          <a:prstGeom prst="rect">
            <a:avLst/>
          </a:prstGeom>
          <a:noFill/>
          <a:ln/>
        </p:spPr>
        <p:txBody>
          <a:bodyPr wrap="square" lIns="0" tIns="0" rIns="0" bIns="0" rtlCol="0" anchor="t"/>
          <a:lstStyle/>
          <a:p>
            <a:pPr indent="0" marL="0">
              <a:buNone/>
            </a:pPr>
            <a:r>
              <a:rPr lang="en-US" sz="1000" dirty="0">
                <a:solidFill>
                  <a:srgbClr val="667085"/>
                </a:solidFill>
                <a:latin typeface="Arial" pitchFamily="34" charset="0"/>
                <a:ea typeface="Arial" pitchFamily="34" charset="-122"/>
                <a:cs typeface="Arial" pitchFamily="34" charset="-120"/>
              </a:rPr>
              <a:t>The program makes healthy action feel achievable, timely, and worth continuing.</a:t>
            </a:r>
            <a:endParaRPr lang="en-US" sz="1000" dirty="0"/>
          </a:p>
        </p:txBody>
      </p:sp>
      <p:sp>
        <p:nvSpPr>
          <p:cNvPr id="16" name="Text 14"/>
          <p:cNvSpPr/>
          <p:nvPr/>
        </p:nvSpPr>
        <p:spPr>
          <a:xfrm>
            <a:off x="548640" y="3017520"/>
            <a:ext cx="4449928" cy="219456"/>
          </a:xfrm>
          <a:prstGeom prst="rect">
            <a:avLst/>
          </a:prstGeom>
          <a:noFill/>
          <a:ln/>
        </p:spPr>
        <p:txBody>
          <a:bodyPr wrap="square" lIns="0" tIns="0" rIns="0" bIns="0" rtlCol="0" anchor="ctr"/>
          <a:lstStyle/>
          <a:p>
            <a:pPr indent="0" marL="0">
              <a:buNone/>
            </a:pPr>
            <a:r>
              <a:rPr lang="en-US" sz="1100" b="1" dirty="0">
                <a:solidFill>
                  <a:srgbClr val="1F2937"/>
                </a:solidFill>
                <a:latin typeface="Arial" pitchFamily="34" charset="0"/>
                <a:ea typeface="Arial" pitchFamily="34" charset="-122"/>
                <a:cs typeface="Arial" pitchFamily="34" charset="-120"/>
              </a:rPr>
              <a:t>Trust and Social Proof</a:t>
            </a:r>
            <a:endParaRPr lang="en-US" sz="1100" dirty="0"/>
          </a:p>
        </p:txBody>
      </p:sp>
      <p:sp>
        <p:nvSpPr>
          <p:cNvPr id="17" name="Text 15"/>
          <p:cNvSpPr/>
          <p:nvPr/>
        </p:nvSpPr>
        <p:spPr>
          <a:xfrm>
            <a:off x="4998568" y="3017520"/>
            <a:ext cx="822960" cy="219456"/>
          </a:xfrm>
          <a:prstGeom prst="rect">
            <a:avLst/>
          </a:prstGeom>
          <a:noFill/>
          <a:ln/>
        </p:spPr>
        <p:txBody>
          <a:bodyPr wrap="square" lIns="0" tIns="0" rIns="0" bIns="0" rtlCol="0" anchor="ctr"/>
          <a:lstStyle/>
          <a:p>
            <a:pPr algn="r" indent="0" marL="0">
              <a:buNone/>
            </a:pPr>
            <a:r>
              <a:rPr lang="en-US" sz="1100" b="1" dirty="0">
                <a:solidFill>
                  <a:srgbClr val="1F2937"/>
                </a:solidFill>
                <a:latin typeface="Arial" pitchFamily="34" charset="0"/>
                <a:ea typeface="Arial" pitchFamily="34" charset="-122"/>
                <a:cs typeface="Arial" pitchFamily="34" charset="-120"/>
              </a:rPr>
              <a:t>56 / 100</a:t>
            </a:r>
            <a:endParaRPr lang="en-US" sz="1100" dirty="0"/>
          </a:p>
        </p:txBody>
      </p:sp>
      <p:sp>
        <p:nvSpPr>
          <p:cNvPr id="18" name="Shape 16"/>
          <p:cNvSpPr/>
          <p:nvPr/>
        </p:nvSpPr>
        <p:spPr>
          <a:xfrm>
            <a:off x="548640" y="3291840"/>
            <a:ext cx="5272888" cy="128016"/>
          </a:xfrm>
          <a:prstGeom prst="rect">
            <a:avLst/>
          </a:prstGeom>
          <a:solidFill>
            <a:srgbClr val="E8EBEF"/>
          </a:solidFill>
          <a:ln/>
        </p:spPr>
      </p:sp>
      <p:sp>
        <p:nvSpPr>
          <p:cNvPr id="19" name="Shape 17"/>
          <p:cNvSpPr/>
          <p:nvPr/>
        </p:nvSpPr>
        <p:spPr>
          <a:xfrm>
            <a:off x="548640" y="3291840"/>
            <a:ext cx="2952817" cy="128016"/>
          </a:xfrm>
          <a:prstGeom prst="rect">
            <a:avLst/>
          </a:prstGeom>
          <a:solidFill>
            <a:srgbClr val="E8813A"/>
          </a:solidFill>
          <a:ln/>
        </p:spPr>
      </p:sp>
      <p:sp>
        <p:nvSpPr>
          <p:cNvPr id="20" name="Text 18"/>
          <p:cNvSpPr/>
          <p:nvPr/>
        </p:nvSpPr>
        <p:spPr>
          <a:xfrm>
            <a:off x="548640" y="3456432"/>
            <a:ext cx="5272888" cy="182880"/>
          </a:xfrm>
          <a:prstGeom prst="rect">
            <a:avLst/>
          </a:prstGeom>
          <a:noFill/>
          <a:ln/>
        </p:spPr>
        <p:txBody>
          <a:bodyPr wrap="square" lIns="0" tIns="0" rIns="0" bIns="0" rtlCol="0" anchor="ctr"/>
          <a:lstStyle/>
          <a:p>
            <a:pPr indent="0" marL="0">
              <a:buNone/>
            </a:pPr>
            <a:r>
              <a:rPr lang="en-US" sz="900" dirty="0">
                <a:solidFill>
                  <a:srgbClr val="667085"/>
                </a:solidFill>
                <a:latin typeface="Arial" pitchFamily="34" charset="0"/>
                <a:ea typeface="Arial" pitchFamily="34" charset="-122"/>
                <a:cs typeface="Arial" pitchFamily="34" charset="-120"/>
              </a:rPr>
              <a:t>Meaningful barriers</a:t>
            </a:r>
            <a:endParaRPr lang="en-US" sz="900" dirty="0"/>
          </a:p>
        </p:txBody>
      </p:sp>
      <p:sp>
        <p:nvSpPr>
          <p:cNvPr id="21" name="Text 19"/>
          <p:cNvSpPr/>
          <p:nvPr/>
        </p:nvSpPr>
        <p:spPr>
          <a:xfrm>
            <a:off x="548640" y="3611880"/>
            <a:ext cx="5272888" cy="640080"/>
          </a:xfrm>
          <a:prstGeom prst="rect">
            <a:avLst/>
          </a:prstGeom>
          <a:noFill/>
          <a:ln/>
        </p:spPr>
        <p:txBody>
          <a:bodyPr wrap="square" lIns="0" tIns="0" rIns="0" bIns="0" rtlCol="0" anchor="t"/>
          <a:lstStyle/>
          <a:p>
            <a:pPr indent="0" marL="0">
              <a:buNone/>
            </a:pPr>
            <a:r>
              <a:rPr lang="en-US" sz="1000" dirty="0">
                <a:solidFill>
                  <a:srgbClr val="667085"/>
                </a:solidFill>
                <a:latin typeface="Arial" pitchFamily="34" charset="0"/>
                <a:ea typeface="Arial" pitchFamily="34" charset="-122"/>
                <a:cs typeface="Arial" pitchFamily="34" charset="-120"/>
              </a:rPr>
              <a:t>Employees see credible support, relatable participation, and clear privacy protections.</a:t>
            </a:r>
            <a:endParaRPr lang="en-US" sz="1000" dirty="0"/>
          </a:p>
        </p:txBody>
      </p:sp>
      <p:sp>
        <p:nvSpPr>
          <p:cNvPr id="22" name="Text 20"/>
          <p:cNvSpPr/>
          <p:nvPr/>
        </p:nvSpPr>
        <p:spPr>
          <a:xfrm>
            <a:off x="6370168" y="3017520"/>
            <a:ext cx="4449928" cy="219456"/>
          </a:xfrm>
          <a:prstGeom prst="rect">
            <a:avLst/>
          </a:prstGeom>
          <a:noFill/>
          <a:ln/>
        </p:spPr>
        <p:txBody>
          <a:bodyPr wrap="square" lIns="0" tIns="0" rIns="0" bIns="0" rtlCol="0" anchor="ctr"/>
          <a:lstStyle/>
          <a:p>
            <a:pPr indent="0" marL="0">
              <a:buNone/>
            </a:pPr>
            <a:r>
              <a:rPr lang="en-US" sz="1100" b="1" dirty="0">
                <a:solidFill>
                  <a:srgbClr val="1F2937"/>
                </a:solidFill>
                <a:latin typeface="Arial" pitchFamily="34" charset="0"/>
                <a:ea typeface="Arial" pitchFamily="34" charset="-122"/>
                <a:cs typeface="Arial" pitchFamily="34" charset="-120"/>
              </a:rPr>
              <a:t>Structural and Environmental Friction</a:t>
            </a:r>
            <a:endParaRPr lang="en-US" sz="1100" dirty="0"/>
          </a:p>
        </p:txBody>
      </p:sp>
      <p:sp>
        <p:nvSpPr>
          <p:cNvPr id="23" name="Text 21"/>
          <p:cNvSpPr/>
          <p:nvPr/>
        </p:nvSpPr>
        <p:spPr>
          <a:xfrm>
            <a:off x="10820095" y="3017520"/>
            <a:ext cx="822960" cy="219456"/>
          </a:xfrm>
          <a:prstGeom prst="rect">
            <a:avLst/>
          </a:prstGeom>
          <a:noFill/>
          <a:ln/>
        </p:spPr>
        <p:txBody>
          <a:bodyPr wrap="square" lIns="0" tIns="0" rIns="0" bIns="0" rtlCol="0" anchor="ctr"/>
          <a:lstStyle/>
          <a:p>
            <a:pPr algn="r" indent="0" marL="0">
              <a:buNone/>
            </a:pPr>
            <a:r>
              <a:rPr lang="en-US" sz="1100" b="1" dirty="0">
                <a:solidFill>
                  <a:srgbClr val="1F2937"/>
                </a:solidFill>
                <a:latin typeface="Arial" pitchFamily="34" charset="0"/>
                <a:ea typeface="Arial" pitchFamily="34" charset="-122"/>
                <a:cs typeface="Arial" pitchFamily="34" charset="-120"/>
              </a:rPr>
              <a:t>53 / 100</a:t>
            </a:r>
            <a:endParaRPr lang="en-US" sz="1100" dirty="0"/>
          </a:p>
        </p:txBody>
      </p:sp>
      <p:sp>
        <p:nvSpPr>
          <p:cNvPr id="24" name="Shape 22"/>
          <p:cNvSpPr/>
          <p:nvPr/>
        </p:nvSpPr>
        <p:spPr>
          <a:xfrm>
            <a:off x="6370168" y="3291840"/>
            <a:ext cx="5272888" cy="128016"/>
          </a:xfrm>
          <a:prstGeom prst="rect">
            <a:avLst/>
          </a:prstGeom>
          <a:solidFill>
            <a:srgbClr val="E8EBEF"/>
          </a:solidFill>
          <a:ln/>
        </p:spPr>
      </p:sp>
      <p:sp>
        <p:nvSpPr>
          <p:cNvPr id="25" name="Shape 23"/>
          <p:cNvSpPr/>
          <p:nvPr/>
        </p:nvSpPr>
        <p:spPr>
          <a:xfrm>
            <a:off x="6370168" y="3291840"/>
            <a:ext cx="2794630" cy="128016"/>
          </a:xfrm>
          <a:prstGeom prst="rect">
            <a:avLst/>
          </a:prstGeom>
          <a:solidFill>
            <a:srgbClr val="E8813A"/>
          </a:solidFill>
          <a:ln/>
        </p:spPr>
      </p:sp>
      <p:sp>
        <p:nvSpPr>
          <p:cNvPr id="26" name="Text 24"/>
          <p:cNvSpPr/>
          <p:nvPr/>
        </p:nvSpPr>
        <p:spPr>
          <a:xfrm>
            <a:off x="6370168" y="3456432"/>
            <a:ext cx="5272888" cy="182880"/>
          </a:xfrm>
          <a:prstGeom prst="rect">
            <a:avLst/>
          </a:prstGeom>
          <a:noFill/>
          <a:ln/>
        </p:spPr>
        <p:txBody>
          <a:bodyPr wrap="square" lIns="0" tIns="0" rIns="0" bIns="0" rtlCol="0" anchor="ctr"/>
          <a:lstStyle/>
          <a:p>
            <a:pPr indent="0" marL="0">
              <a:buNone/>
            </a:pPr>
            <a:r>
              <a:rPr lang="en-US" sz="900" dirty="0">
                <a:solidFill>
                  <a:srgbClr val="667085"/>
                </a:solidFill>
                <a:latin typeface="Arial" pitchFamily="34" charset="0"/>
                <a:ea typeface="Arial" pitchFamily="34" charset="-122"/>
                <a:cs typeface="Arial" pitchFamily="34" charset="-120"/>
              </a:rPr>
              <a:t>Meaningful barriers</a:t>
            </a:r>
            <a:endParaRPr lang="en-US" sz="900" dirty="0"/>
          </a:p>
        </p:txBody>
      </p:sp>
      <p:sp>
        <p:nvSpPr>
          <p:cNvPr id="27" name="Text 25"/>
          <p:cNvSpPr/>
          <p:nvPr/>
        </p:nvSpPr>
        <p:spPr>
          <a:xfrm>
            <a:off x="6370168" y="3611880"/>
            <a:ext cx="5272888" cy="640080"/>
          </a:xfrm>
          <a:prstGeom prst="rect">
            <a:avLst/>
          </a:prstGeom>
          <a:noFill/>
          <a:ln/>
        </p:spPr>
        <p:txBody>
          <a:bodyPr wrap="square" lIns="0" tIns="0" rIns="0" bIns="0" rtlCol="0" anchor="t"/>
          <a:lstStyle/>
          <a:p>
            <a:pPr indent="0" marL="0">
              <a:buNone/>
            </a:pPr>
            <a:r>
              <a:rPr lang="en-US" sz="1000" dirty="0">
                <a:solidFill>
                  <a:srgbClr val="667085"/>
                </a:solidFill>
                <a:latin typeface="Arial" pitchFamily="34" charset="0"/>
                <a:ea typeface="Arial" pitchFamily="34" charset="-122"/>
                <a:cs typeface="Arial" pitchFamily="34" charset="-120"/>
              </a:rPr>
              <a:t>The program removes access, technology, workplace, and administrative barriers to participation.</a:t>
            </a:r>
            <a:endParaRPr lang="en-US" sz="1000" dirty="0"/>
          </a:p>
        </p:txBody>
      </p:sp>
      <p:sp>
        <p:nvSpPr>
          <p:cNvPr id="28" name="Text 26"/>
          <p:cNvSpPr/>
          <p:nvPr/>
        </p:nvSpPr>
        <p:spPr>
          <a:xfrm>
            <a:off x="548640" y="6492240"/>
            <a:ext cx="2743200" cy="274320"/>
          </a:xfrm>
          <a:prstGeom prst="rect">
            <a:avLst/>
          </a:prstGeom>
          <a:noFill/>
          <a:ln/>
        </p:spPr>
        <p:txBody>
          <a:bodyPr wrap="square" rtlCol="0" anchor="ctr"/>
          <a:lstStyle/>
          <a:p>
            <a:pPr indent="0" marL="0">
              <a:buNone/>
            </a:pPr>
            <a:r>
              <a:rPr lang="en-US" sz="800" i="1" dirty="0">
                <a:solidFill>
                  <a:srgbClr val="667085"/>
                </a:solidFill>
                <a:latin typeface="Arial" pitchFamily="34" charset="0"/>
                <a:ea typeface="Arial" pitchFamily="34" charset="-122"/>
                <a:cs typeface="Arial" pitchFamily="34" charset="-120"/>
              </a:rPr>
              <a:t>Powered by Propel</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457200"/>
          </a:xfrm>
          <a:prstGeom prst="rect">
            <a:avLst/>
          </a:prstGeom>
          <a:noFill/>
          <a:ln/>
        </p:spPr>
        <p:txBody>
          <a:bodyPr wrap="square" rtlCol="0" anchor="ctr"/>
          <a:lstStyle/>
          <a:p>
            <a:pPr indent="0" marL="0">
              <a:buNone/>
            </a:pPr>
            <a:r>
              <a:rPr lang="en-US" sz="2400" b="1" dirty="0">
                <a:solidFill>
                  <a:srgbClr val="132340"/>
                </a:solidFill>
                <a:latin typeface="Arial" pitchFamily="34" charset="0"/>
                <a:ea typeface="Arial" pitchFamily="34" charset="-122"/>
                <a:cs typeface="Arial" pitchFamily="34" charset="-120"/>
              </a:rPr>
              <a:t>Executive Summary</a:t>
            </a:r>
            <a:endParaRPr lang="en-US" sz="2400" dirty="0"/>
          </a:p>
        </p:txBody>
      </p:sp>
      <p:sp>
        <p:nvSpPr>
          <p:cNvPr id="3" name="Text 1"/>
          <p:cNvSpPr/>
          <p:nvPr/>
        </p:nvSpPr>
        <p:spPr>
          <a:xfrm>
            <a:off x="548640" y="1097280"/>
            <a:ext cx="11094415" cy="2377440"/>
          </a:xfrm>
          <a:prstGeom prst="rect">
            <a:avLst/>
          </a:prstGeom>
          <a:noFill/>
          <a:ln/>
        </p:spPr>
        <p:txBody>
          <a:bodyPr wrap="square" rtlCol="0" anchor="t"/>
          <a:lstStyle/>
          <a:p>
            <a:pPr indent="0" marL="0">
              <a:lnSpc>
                <a:spcPct val="125000"/>
              </a:lnSpc>
              <a:buNone/>
            </a:pPr>
            <a:r>
              <a:rPr lang="en-US" sz="1300" dirty="0">
                <a:solidFill>
                  <a:srgbClr val="1F2937"/>
                </a:solidFill>
                <a:latin typeface="Arial" pitchFamily="34" charset="0"/>
                <a:ea typeface="Arial" pitchFamily="34" charset="-122"/>
                <a:cs typeface="Arial" pitchFamily="34" charset="-120"/>
              </a:rPr>
              <a:t>Dyerco Fabricators scores in the "Developing" band (overall 54.8) with clear strengths in Engagement and Communication but persistent governance, access, and clarity gaps that limit activation for shift and frontline workers. Priority barriers are unclear ownership of the strategy, poor mobile access for non-desk employees, weak tailored communications and social proof, and limited measurement/learning. Immediate high‑value moves: establish governance and measurable objectives, fix mobile/centralized access and a guided starting experience, and equip managers to reinforce participation.</a:t>
            </a:r>
            <a:endParaRPr lang="en-US" sz="1300" dirty="0"/>
          </a:p>
        </p:txBody>
      </p:sp>
      <p:sp>
        <p:nvSpPr>
          <p:cNvPr id="4" name="Text 2"/>
          <p:cNvSpPr/>
          <p:nvPr/>
        </p:nvSpPr>
        <p:spPr>
          <a:xfrm>
            <a:off x="548640" y="3749040"/>
            <a:ext cx="5486400" cy="274320"/>
          </a:xfrm>
          <a:prstGeom prst="rect">
            <a:avLst/>
          </a:prstGeom>
          <a:noFill/>
          <a:ln/>
        </p:spPr>
        <p:txBody>
          <a:bodyPr wrap="square" rtlCol="0" anchor="ctr"/>
          <a:lstStyle/>
          <a:p>
            <a:pPr indent="0" marL="0">
              <a:buNone/>
            </a:pPr>
            <a:r>
              <a:rPr lang="en-US" sz="1200" b="1" spc="100" kern="0" dirty="0">
                <a:solidFill>
                  <a:srgbClr val="132340"/>
                </a:solidFill>
                <a:latin typeface="Arial" pitchFamily="34" charset="0"/>
                <a:ea typeface="Arial" pitchFamily="34" charset="-122"/>
                <a:cs typeface="Arial" pitchFamily="34" charset="-120"/>
              </a:rPr>
              <a:t>CURRENT MATURITY</a:t>
            </a:r>
            <a:endParaRPr lang="en-US" sz="1200" dirty="0"/>
          </a:p>
        </p:txBody>
      </p:sp>
      <p:sp>
        <p:nvSpPr>
          <p:cNvPr id="5" name="Text 3"/>
          <p:cNvSpPr/>
          <p:nvPr/>
        </p:nvSpPr>
        <p:spPr>
          <a:xfrm>
            <a:off x="548640" y="4114800"/>
            <a:ext cx="11094415" cy="2103120"/>
          </a:xfrm>
          <a:prstGeom prst="rect">
            <a:avLst/>
          </a:prstGeom>
          <a:noFill/>
          <a:ln/>
        </p:spPr>
        <p:txBody>
          <a:bodyPr wrap="square" rtlCol="0" anchor="t"/>
          <a:lstStyle/>
          <a:p>
            <a:pPr indent="0" marL="0">
              <a:lnSpc>
                <a:spcPct val="120000"/>
              </a:lnSpc>
              <a:buNone/>
            </a:pPr>
            <a:r>
              <a:rPr lang="en-US" sz="1200" dirty="0">
                <a:solidFill>
                  <a:srgbClr val="667085"/>
                </a:solidFill>
                <a:latin typeface="Arial" pitchFamily="34" charset="0"/>
                <a:ea typeface="Arial" pitchFamily="34" charset="-122"/>
                <a:cs typeface="Arial" pitchFamily="34" charset="-120"/>
              </a:rPr>
              <a:t>Dyerco's overall score (54.8, Developing) and Strategy &amp; Leadership normalized score (50) indicate a program with foundational activity but insufficient strategic clarity and ownership to scale engagement. Engagement and Communication (64) is a relative strength — the organization can run compelling campaigns — but this strength is not translating into consistent activation across employee groups because value clarity, ownership, and access are weak (Strategy &amp; Leadership 50; Culture and Social Support 50). Evidence of those constraints appears in low diagnostic responses for strategy ownership and access/trust signals. The pattern is classic for mid‑sized manufacturing employers: programs can be visible but fail to activate frontline and shift workers without deliberate access design, governance, and measurement by site or shift. The recommended...</a:t>
            </a:r>
            <a:endParaRPr lang="en-US" sz="1200" dirty="0"/>
          </a:p>
        </p:txBody>
      </p:sp>
      <p:sp>
        <p:nvSpPr>
          <p:cNvPr id="6" name="Text 4"/>
          <p:cNvSpPr/>
          <p:nvPr/>
        </p:nvSpPr>
        <p:spPr>
          <a:xfrm>
            <a:off x="548640" y="6492240"/>
            <a:ext cx="2743200" cy="274320"/>
          </a:xfrm>
          <a:prstGeom prst="rect">
            <a:avLst/>
          </a:prstGeom>
          <a:noFill/>
          <a:ln/>
        </p:spPr>
        <p:txBody>
          <a:bodyPr wrap="square" rtlCol="0" anchor="ctr"/>
          <a:lstStyle/>
          <a:p>
            <a:pPr indent="0" marL="0">
              <a:buNone/>
            </a:pPr>
            <a:r>
              <a:rPr lang="en-US" sz="800" i="1" dirty="0">
                <a:solidFill>
                  <a:srgbClr val="667085"/>
                </a:solidFill>
                <a:latin typeface="Arial" pitchFamily="34" charset="0"/>
                <a:ea typeface="Arial" pitchFamily="34" charset="-122"/>
                <a:cs typeface="Arial" pitchFamily="34" charset="-120"/>
              </a:rPr>
              <a:t>Powered by Propel</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457200"/>
          </a:xfrm>
          <a:prstGeom prst="rect">
            <a:avLst/>
          </a:prstGeom>
          <a:noFill/>
          <a:ln/>
        </p:spPr>
        <p:txBody>
          <a:bodyPr wrap="square" rtlCol="0" anchor="ctr"/>
          <a:lstStyle/>
          <a:p>
            <a:pPr indent="0" marL="0">
              <a:buNone/>
            </a:pPr>
            <a:r>
              <a:rPr lang="en-US" sz="2400" b="1" dirty="0">
                <a:solidFill>
                  <a:srgbClr val="132340"/>
                </a:solidFill>
                <a:latin typeface="Arial" pitchFamily="34" charset="0"/>
                <a:ea typeface="Arial" pitchFamily="34" charset="-122"/>
                <a:cs typeface="Arial" pitchFamily="34" charset="-120"/>
              </a:rPr>
              <a:t>What Is Holding Impact Back</a:t>
            </a:r>
            <a:endParaRPr lang="en-US" sz="2400" dirty="0"/>
          </a:p>
        </p:txBody>
      </p:sp>
      <p:sp>
        <p:nvSpPr>
          <p:cNvPr id="3" name="Shape 1"/>
          <p:cNvSpPr/>
          <p:nvPr/>
        </p:nvSpPr>
        <p:spPr>
          <a:xfrm>
            <a:off x="548640" y="1289304"/>
            <a:ext cx="109728" cy="109728"/>
          </a:xfrm>
          <a:prstGeom prst="ellipse">
            <a:avLst/>
          </a:prstGeom>
          <a:solidFill>
            <a:srgbClr val="1F3A5F"/>
          </a:solidFill>
          <a:ln/>
        </p:spPr>
      </p:sp>
      <p:sp>
        <p:nvSpPr>
          <p:cNvPr id="4" name="Text 2"/>
          <p:cNvSpPr/>
          <p:nvPr/>
        </p:nvSpPr>
        <p:spPr>
          <a:xfrm>
            <a:off x="804672" y="1207008"/>
            <a:ext cx="10838383" cy="237744"/>
          </a:xfrm>
          <a:prstGeom prst="rect">
            <a:avLst/>
          </a:prstGeom>
          <a:noFill/>
          <a:ln/>
        </p:spPr>
        <p:txBody>
          <a:bodyPr wrap="square" lIns="0" tIns="0" rIns="0" bIns="0" rtlCol="0" anchor="ctr"/>
          <a:lstStyle/>
          <a:p>
            <a:pPr indent="0" marL="0">
              <a:buNone/>
            </a:pPr>
            <a:r>
              <a:rPr lang="en-US" sz="1200" b="1" dirty="0">
                <a:solidFill>
                  <a:srgbClr val="1F2937"/>
                </a:solidFill>
                <a:latin typeface="Arial" pitchFamily="34" charset="0"/>
                <a:ea typeface="Arial" pitchFamily="34" charset="-122"/>
                <a:cs typeface="Arial" pitchFamily="34" charset="-120"/>
              </a:rPr>
              <a:t>Unclear governance and ownership</a:t>
            </a:r>
            <a:endParaRPr lang="en-US" sz="1200" dirty="0"/>
          </a:p>
        </p:txBody>
      </p:sp>
      <p:sp>
        <p:nvSpPr>
          <p:cNvPr id="5" name="Text 3"/>
          <p:cNvSpPr/>
          <p:nvPr/>
        </p:nvSpPr>
        <p:spPr>
          <a:xfrm>
            <a:off x="804672" y="1453896"/>
            <a:ext cx="10838383" cy="411480"/>
          </a:xfrm>
          <a:prstGeom prst="rect">
            <a:avLst/>
          </a:prstGeom>
          <a:noFill/>
          <a:ln/>
        </p:spPr>
        <p:txBody>
          <a:bodyPr wrap="square" lIns="0" tIns="0" rIns="0" bIns="0" rtlCol="0" anchor="t"/>
          <a:lstStyle/>
          <a:p>
            <a:pPr indent="0" marL="0">
              <a:buNone/>
            </a:pPr>
            <a:r>
              <a:rPr lang="en-US" sz="1000" dirty="0">
                <a:solidFill>
                  <a:srgbClr val="667085"/>
                </a:solidFill>
                <a:latin typeface="Arial" pitchFamily="34" charset="0"/>
                <a:ea typeface="Arial" pitchFamily="34" charset="-122"/>
                <a:cs typeface="Arial" pitchFamily="34" charset="-120"/>
              </a:rPr>
              <a:t>Assessment shows very low clarity on ownership of the well‑being strategy and a Strategy &amp; Leadership normalized score of 50, creating decision delays and inconsistent implementation across sites. Without defined decision rights the program cannot prioritize resources, measure consistently, or enforce protected participation time .</a:t>
            </a:r>
            <a:endParaRPr lang="en-US" sz="1000" dirty="0"/>
          </a:p>
        </p:txBody>
      </p:sp>
      <p:sp>
        <p:nvSpPr>
          <p:cNvPr id="6" name="Shape 4"/>
          <p:cNvSpPr/>
          <p:nvPr/>
        </p:nvSpPr>
        <p:spPr>
          <a:xfrm>
            <a:off x="548640" y="2157984"/>
            <a:ext cx="109728" cy="109728"/>
          </a:xfrm>
          <a:prstGeom prst="ellipse">
            <a:avLst/>
          </a:prstGeom>
          <a:solidFill>
            <a:srgbClr val="1F3A5F"/>
          </a:solidFill>
          <a:ln/>
        </p:spPr>
      </p:sp>
      <p:sp>
        <p:nvSpPr>
          <p:cNvPr id="7" name="Text 5"/>
          <p:cNvSpPr/>
          <p:nvPr/>
        </p:nvSpPr>
        <p:spPr>
          <a:xfrm>
            <a:off x="804672" y="2075688"/>
            <a:ext cx="10838383" cy="237744"/>
          </a:xfrm>
          <a:prstGeom prst="rect">
            <a:avLst/>
          </a:prstGeom>
          <a:noFill/>
          <a:ln/>
        </p:spPr>
        <p:txBody>
          <a:bodyPr wrap="square" lIns="0" tIns="0" rIns="0" bIns="0" rtlCol="0" anchor="ctr"/>
          <a:lstStyle/>
          <a:p>
            <a:pPr indent="0" marL="0">
              <a:buNone/>
            </a:pPr>
            <a:r>
              <a:rPr lang="en-US" sz="1200" b="1" dirty="0">
                <a:solidFill>
                  <a:srgbClr val="1F2937"/>
                </a:solidFill>
                <a:latin typeface="Arial" pitchFamily="34" charset="0"/>
                <a:ea typeface="Arial" pitchFamily="34" charset="-122"/>
                <a:cs typeface="Arial" pitchFamily="34" charset="-120"/>
              </a:rPr>
              <a:t>Mobile and frontline access friction</a:t>
            </a:r>
            <a:endParaRPr lang="en-US" sz="1200" dirty="0"/>
          </a:p>
        </p:txBody>
      </p:sp>
      <p:sp>
        <p:nvSpPr>
          <p:cNvPr id="8" name="Text 6"/>
          <p:cNvSpPr/>
          <p:nvPr/>
        </p:nvSpPr>
        <p:spPr>
          <a:xfrm>
            <a:off x="804672" y="2322576"/>
            <a:ext cx="10838383" cy="411480"/>
          </a:xfrm>
          <a:prstGeom prst="rect">
            <a:avLst/>
          </a:prstGeom>
          <a:noFill/>
          <a:ln/>
        </p:spPr>
        <p:txBody>
          <a:bodyPr wrap="square" lIns="0" tIns="0" rIns="0" bIns="0" rtlCol="0" anchor="t"/>
          <a:lstStyle/>
          <a:p>
            <a:pPr indent="0" marL="0">
              <a:buNone/>
            </a:pPr>
            <a:r>
              <a:rPr lang="en-US" sz="1000" dirty="0">
                <a:solidFill>
                  <a:srgbClr val="667085"/>
                </a:solidFill>
                <a:latin typeface="Arial" pitchFamily="34" charset="0"/>
                <a:ea typeface="Arial" pitchFamily="34" charset="-122"/>
                <a:cs typeface="Arial" pitchFamily="34" charset="-120"/>
              </a:rPr>
              <a:t>Mobile access scored 1 while Experience &amp; Access is only 55, indicating employees — especially shift, field, and deskless workers — cannot easily access the program from phones or onsite. Manufacturing guidance warns limited computer access and recommends QR, text, and onsite paths; unresolved access will keep participation concentrated among desk workers ( ).</a:t>
            </a:r>
            <a:endParaRPr lang="en-US" sz="1000" dirty="0"/>
          </a:p>
        </p:txBody>
      </p:sp>
      <p:sp>
        <p:nvSpPr>
          <p:cNvPr id="9" name="Shape 7"/>
          <p:cNvSpPr/>
          <p:nvPr/>
        </p:nvSpPr>
        <p:spPr>
          <a:xfrm>
            <a:off x="548640" y="3026664"/>
            <a:ext cx="109728" cy="109728"/>
          </a:xfrm>
          <a:prstGeom prst="ellipse">
            <a:avLst/>
          </a:prstGeom>
          <a:solidFill>
            <a:srgbClr val="1F3A5F"/>
          </a:solidFill>
          <a:ln/>
        </p:spPr>
      </p:sp>
      <p:sp>
        <p:nvSpPr>
          <p:cNvPr id="10" name="Text 8"/>
          <p:cNvSpPr/>
          <p:nvPr/>
        </p:nvSpPr>
        <p:spPr>
          <a:xfrm>
            <a:off x="804672" y="2944368"/>
            <a:ext cx="10838383" cy="237744"/>
          </a:xfrm>
          <a:prstGeom prst="rect">
            <a:avLst/>
          </a:prstGeom>
          <a:noFill/>
          <a:ln/>
        </p:spPr>
        <p:txBody>
          <a:bodyPr wrap="square" lIns="0" tIns="0" rIns="0" bIns="0" rtlCol="0" anchor="ctr"/>
          <a:lstStyle/>
          <a:p>
            <a:pPr indent="0" marL="0">
              <a:buNone/>
            </a:pPr>
            <a:r>
              <a:rPr lang="en-US" sz="1200" b="1" dirty="0">
                <a:solidFill>
                  <a:srgbClr val="1F2937"/>
                </a:solidFill>
                <a:latin typeface="Arial" pitchFamily="34" charset="0"/>
                <a:ea typeface="Arial" pitchFamily="34" charset="-122"/>
                <a:cs typeface="Arial" pitchFamily="34" charset="-120"/>
              </a:rPr>
              <a:t>Low clarity of value and tailored communications</a:t>
            </a:r>
            <a:endParaRPr lang="en-US" sz="1200" dirty="0"/>
          </a:p>
        </p:txBody>
      </p:sp>
      <p:sp>
        <p:nvSpPr>
          <p:cNvPr id="11" name="Text 9"/>
          <p:cNvSpPr/>
          <p:nvPr/>
        </p:nvSpPr>
        <p:spPr>
          <a:xfrm>
            <a:off x="804672" y="3191256"/>
            <a:ext cx="10838383" cy="411480"/>
          </a:xfrm>
          <a:prstGeom prst="rect">
            <a:avLst/>
          </a:prstGeom>
          <a:noFill/>
          <a:ln/>
        </p:spPr>
        <p:txBody>
          <a:bodyPr wrap="square" lIns="0" tIns="0" rIns="0" bIns="0" rtlCol="0" anchor="t"/>
          <a:lstStyle/>
          <a:p>
            <a:pPr indent="0" marL="0">
              <a:buNone/>
            </a:pPr>
            <a:r>
              <a:rPr lang="en-US" sz="1000" dirty="0">
                <a:solidFill>
                  <a:srgbClr val="667085"/>
                </a:solidFill>
                <a:latin typeface="Arial" pitchFamily="34" charset="0"/>
                <a:ea typeface="Arial" pitchFamily="34" charset="-122"/>
                <a:cs typeface="Arial" pitchFamily="34" charset="-120"/>
              </a:rPr>
              <a:t>Clarity signals are weak: defining objectives and employee value proposition is incomplete and tailoring communications scored low . While Engagement &amp; Communication is relatively strong, messages are not consistently relevant across departments or shifts, limiting first‑step activation ( ).</a:t>
            </a:r>
            <a:endParaRPr lang="en-US" sz="1000" dirty="0"/>
          </a:p>
        </p:txBody>
      </p:sp>
      <p:sp>
        <p:nvSpPr>
          <p:cNvPr id="12" name="Shape 10"/>
          <p:cNvSpPr/>
          <p:nvPr/>
        </p:nvSpPr>
        <p:spPr>
          <a:xfrm>
            <a:off x="548640" y="3895344"/>
            <a:ext cx="109728" cy="109728"/>
          </a:xfrm>
          <a:prstGeom prst="ellipse">
            <a:avLst/>
          </a:prstGeom>
          <a:solidFill>
            <a:srgbClr val="1F3A5F"/>
          </a:solidFill>
          <a:ln/>
        </p:spPr>
      </p:sp>
      <p:sp>
        <p:nvSpPr>
          <p:cNvPr id="13" name="Text 11"/>
          <p:cNvSpPr/>
          <p:nvPr/>
        </p:nvSpPr>
        <p:spPr>
          <a:xfrm>
            <a:off x="804672" y="3813048"/>
            <a:ext cx="10838383" cy="237744"/>
          </a:xfrm>
          <a:prstGeom prst="rect">
            <a:avLst/>
          </a:prstGeom>
          <a:noFill/>
          <a:ln/>
        </p:spPr>
        <p:txBody>
          <a:bodyPr wrap="square" lIns="0" tIns="0" rIns="0" bIns="0" rtlCol="0" anchor="ctr"/>
          <a:lstStyle/>
          <a:p>
            <a:pPr indent="0" marL="0">
              <a:buNone/>
            </a:pPr>
            <a:r>
              <a:rPr lang="en-US" sz="1200" b="1" dirty="0">
                <a:solidFill>
                  <a:srgbClr val="1F2937"/>
                </a:solidFill>
                <a:latin typeface="Arial" pitchFamily="34" charset="0"/>
                <a:ea typeface="Arial" pitchFamily="34" charset="-122"/>
                <a:cs typeface="Arial" pitchFamily="34" charset="-120"/>
              </a:rPr>
              <a:t>Weak social proof and manager enablement</a:t>
            </a:r>
            <a:endParaRPr lang="en-US" sz="1200" dirty="0"/>
          </a:p>
        </p:txBody>
      </p:sp>
      <p:sp>
        <p:nvSpPr>
          <p:cNvPr id="14" name="Text 12"/>
          <p:cNvSpPr/>
          <p:nvPr/>
        </p:nvSpPr>
        <p:spPr>
          <a:xfrm>
            <a:off x="804672" y="4059936"/>
            <a:ext cx="10838383" cy="411480"/>
          </a:xfrm>
          <a:prstGeom prst="rect">
            <a:avLst/>
          </a:prstGeom>
          <a:noFill/>
          <a:ln/>
        </p:spPr>
        <p:txBody>
          <a:bodyPr wrap="square" lIns="0" tIns="0" rIns="0" bIns="0" rtlCol="0" anchor="t"/>
          <a:lstStyle/>
          <a:p>
            <a:pPr indent="0" marL="0">
              <a:buNone/>
            </a:pPr>
            <a:r>
              <a:rPr lang="en-US" sz="1000" dirty="0">
                <a:solidFill>
                  <a:srgbClr val="667085"/>
                </a:solidFill>
                <a:latin typeface="Arial" pitchFamily="34" charset="0"/>
                <a:ea typeface="Arial" pitchFamily="34" charset="-122"/>
                <a:cs typeface="Arial" pitchFamily="34" charset="-120"/>
              </a:rPr>
              <a:t>Social proof is low and manager ownership of reinforcement is mixed , suggesting managers are a partial asset but peer visibility of participation is limited. Manufacturing contexts depend on site/shift champions and pre‑shift manager prompts to normalize participation; lack of social proof reduces motivation and perceived relevance ( industry guidance) .</a:t>
            </a:r>
            <a:endParaRPr lang="en-US" sz="1000" dirty="0"/>
          </a:p>
        </p:txBody>
      </p:sp>
      <p:sp>
        <p:nvSpPr>
          <p:cNvPr id="15" name="Shape 13"/>
          <p:cNvSpPr/>
          <p:nvPr/>
        </p:nvSpPr>
        <p:spPr>
          <a:xfrm>
            <a:off x="548640" y="4764024"/>
            <a:ext cx="109728" cy="109728"/>
          </a:xfrm>
          <a:prstGeom prst="ellipse">
            <a:avLst/>
          </a:prstGeom>
          <a:solidFill>
            <a:srgbClr val="1F3A5F"/>
          </a:solidFill>
          <a:ln/>
        </p:spPr>
      </p:sp>
      <p:sp>
        <p:nvSpPr>
          <p:cNvPr id="16" name="Text 14"/>
          <p:cNvSpPr/>
          <p:nvPr/>
        </p:nvSpPr>
        <p:spPr>
          <a:xfrm>
            <a:off x="804672" y="4681728"/>
            <a:ext cx="10838383" cy="237744"/>
          </a:xfrm>
          <a:prstGeom prst="rect">
            <a:avLst/>
          </a:prstGeom>
          <a:noFill/>
          <a:ln/>
        </p:spPr>
        <p:txBody>
          <a:bodyPr wrap="square" lIns="0" tIns="0" rIns="0" bIns="0" rtlCol="0" anchor="ctr"/>
          <a:lstStyle/>
          <a:p>
            <a:pPr indent="0" marL="0">
              <a:buNone/>
            </a:pPr>
            <a:r>
              <a:rPr lang="en-US" sz="1200" b="1" dirty="0">
                <a:solidFill>
                  <a:srgbClr val="1F2937"/>
                </a:solidFill>
                <a:latin typeface="Arial" pitchFamily="34" charset="0"/>
                <a:ea typeface="Arial" pitchFamily="34" charset="-122"/>
                <a:cs typeface="Arial" pitchFamily="34" charset="-120"/>
              </a:rPr>
              <a:t>Incomplete measurement and learning loop</a:t>
            </a:r>
            <a:endParaRPr lang="en-US" sz="1200" dirty="0"/>
          </a:p>
        </p:txBody>
      </p:sp>
      <p:sp>
        <p:nvSpPr>
          <p:cNvPr id="17" name="Text 15"/>
          <p:cNvSpPr/>
          <p:nvPr/>
        </p:nvSpPr>
        <p:spPr>
          <a:xfrm>
            <a:off x="804672" y="4928616"/>
            <a:ext cx="10838383" cy="411480"/>
          </a:xfrm>
          <a:prstGeom prst="rect">
            <a:avLst/>
          </a:prstGeom>
          <a:noFill/>
          <a:ln/>
        </p:spPr>
        <p:txBody>
          <a:bodyPr wrap="square" lIns="0" tIns="0" rIns="0" bIns="0" rtlCol="0" anchor="t"/>
          <a:lstStyle/>
          <a:p>
            <a:pPr indent="0" marL="0">
              <a:buNone/>
            </a:pPr>
            <a:r>
              <a:rPr lang="en-US" sz="1000" dirty="0">
                <a:solidFill>
                  <a:srgbClr val="667085"/>
                </a:solidFill>
                <a:latin typeface="Arial" pitchFamily="34" charset="0"/>
                <a:ea typeface="Arial" pitchFamily="34" charset="-122"/>
                <a:cs typeface="Arial" pitchFamily="34" charset="-120"/>
              </a:rPr>
              <a:t>Measurement &amp; Improvement scored 55 but diagnostics show low frequency of using results to improve strategy and readiness indicates no utilization or program inventory data captured. Without baseline metrics and regular analysis by site/shift the team cannot identify low‑engagement cohorts or iterate effectively ( ).</a:t>
            </a:r>
            <a:endParaRPr lang="en-US" sz="1000" dirty="0"/>
          </a:p>
        </p:txBody>
      </p:sp>
      <p:sp>
        <p:nvSpPr>
          <p:cNvPr id="18" name="Text 16"/>
          <p:cNvSpPr/>
          <p:nvPr/>
        </p:nvSpPr>
        <p:spPr>
          <a:xfrm>
            <a:off x="548640" y="6492240"/>
            <a:ext cx="2743200" cy="274320"/>
          </a:xfrm>
          <a:prstGeom prst="rect">
            <a:avLst/>
          </a:prstGeom>
          <a:noFill/>
          <a:ln/>
        </p:spPr>
        <p:txBody>
          <a:bodyPr wrap="square" rtlCol="0" anchor="ctr"/>
          <a:lstStyle/>
          <a:p>
            <a:pPr indent="0" marL="0">
              <a:buNone/>
            </a:pPr>
            <a:r>
              <a:rPr lang="en-US" sz="800" i="1" dirty="0">
                <a:solidFill>
                  <a:srgbClr val="667085"/>
                </a:solidFill>
                <a:latin typeface="Arial" pitchFamily="34" charset="0"/>
                <a:ea typeface="Arial" pitchFamily="34" charset="-122"/>
                <a:cs typeface="Arial" pitchFamily="34" charset="-120"/>
              </a:rPr>
              <a:t>Powered by Propel</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4572000" cy="274320"/>
          </a:xfrm>
          <a:prstGeom prst="rect">
            <a:avLst/>
          </a:prstGeom>
          <a:noFill/>
          <a:ln/>
        </p:spPr>
        <p:txBody>
          <a:bodyPr wrap="square" rtlCol="0" anchor="ctr"/>
          <a:lstStyle/>
          <a:p>
            <a:pPr indent="0" marL="0">
              <a:buNone/>
            </a:pPr>
            <a:r>
              <a:rPr lang="en-US" sz="1100" b="1" spc="100" kern="0" dirty="0">
                <a:solidFill>
                  <a:srgbClr val="E8813A"/>
                </a:solidFill>
                <a:latin typeface="Arial" pitchFamily="34" charset="0"/>
                <a:ea typeface="Arial" pitchFamily="34" charset="-122"/>
                <a:cs typeface="Arial" pitchFamily="34" charset="-120"/>
              </a:rPr>
              <a:t>RECOMMENDATION #1</a:t>
            </a:r>
            <a:endParaRPr lang="en-US" sz="1100" dirty="0"/>
          </a:p>
        </p:txBody>
      </p:sp>
      <p:sp>
        <p:nvSpPr>
          <p:cNvPr id="3" name="Text 1"/>
          <p:cNvSpPr/>
          <p:nvPr/>
        </p:nvSpPr>
        <p:spPr>
          <a:xfrm>
            <a:off x="548640" y="685800"/>
            <a:ext cx="11094415" cy="640080"/>
          </a:xfrm>
          <a:prstGeom prst="rect">
            <a:avLst/>
          </a:prstGeom>
          <a:noFill/>
          <a:ln/>
        </p:spPr>
        <p:txBody>
          <a:bodyPr wrap="square" lIns="0" tIns="0" rIns="0" bIns="0" rtlCol="0" anchor="ctr"/>
          <a:lstStyle/>
          <a:p>
            <a:pPr indent="0" marL="0">
              <a:buNone/>
            </a:pPr>
            <a:r>
              <a:rPr lang="en-US" sz="2000" b="1" dirty="0">
                <a:solidFill>
                  <a:srgbClr val="132340"/>
                </a:solidFill>
                <a:latin typeface="Arial" pitchFamily="34" charset="0"/>
                <a:ea typeface="Arial" pitchFamily="34" charset="-122"/>
                <a:cs typeface="Arial" pitchFamily="34" charset="-120"/>
              </a:rPr>
              <a:t>Establish governance and decision rights</a:t>
            </a:r>
            <a:endParaRPr lang="en-US" sz="2000" dirty="0"/>
          </a:p>
        </p:txBody>
      </p:sp>
      <p:sp>
        <p:nvSpPr>
          <p:cNvPr id="4" name="Text 2"/>
          <p:cNvSpPr/>
          <p:nvPr/>
        </p:nvSpPr>
        <p:spPr>
          <a:xfrm>
            <a:off x="548640" y="1554480"/>
            <a:ext cx="6492240"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WHY THIS MATTERS</a:t>
            </a:r>
            <a:endParaRPr lang="en-US" sz="900" dirty="0"/>
          </a:p>
        </p:txBody>
      </p:sp>
      <p:sp>
        <p:nvSpPr>
          <p:cNvPr id="5" name="Text 3"/>
          <p:cNvSpPr/>
          <p:nvPr/>
        </p:nvSpPr>
        <p:spPr>
          <a:xfrm>
            <a:off x="548640" y="1773936"/>
            <a:ext cx="6492240" cy="502920"/>
          </a:xfrm>
          <a:prstGeom prst="rect">
            <a:avLst/>
          </a:prstGeom>
          <a:noFill/>
          <a:ln/>
        </p:spPr>
        <p:txBody>
          <a:bodyPr wrap="square" lIns="0" tIns="0" rIns="0" bIns="0" rtlCol="0" anchor="t"/>
          <a:lstStyle/>
          <a:p>
            <a:pPr indent="0" marL="0">
              <a:buNone/>
            </a:pPr>
            <a:r>
              <a:rPr lang="en-US" sz="1100" dirty="0">
                <a:solidFill>
                  <a:srgbClr val="1F2937"/>
                </a:solidFill>
                <a:latin typeface="Arial" pitchFamily="34" charset="0"/>
                <a:ea typeface="Arial" pitchFamily="34" charset="-122"/>
                <a:cs typeface="Arial" pitchFamily="34" charset="-120"/>
              </a:rPr>
              <a:t>Clear ownership reduces implementation delays, creates accountability for site‑level access, and enables measurement and vendor coordination — all necessary to move beyond the Developing band.</a:t>
            </a:r>
            <a:endParaRPr lang="en-US" sz="1100" dirty="0"/>
          </a:p>
        </p:txBody>
      </p:sp>
      <p:sp>
        <p:nvSpPr>
          <p:cNvPr id="6" name="Text 4"/>
          <p:cNvSpPr/>
          <p:nvPr/>
        </p:nvSpPr>
        <p:spPr>
          <a:xfrm>
            <a:off x="548640" y="2441448"/>
            <a:ext cx="6492240"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RECOMMENDED ACTION</a:t>
            </a:r>
            <a:endParaRPr lang="en-US" sz="900" dirty="0"/>
          </a:p>
        </p:txBody>
      </p:sp>
      <p:sp>
        <p:nvSpPr>
          <p:cNvPr id="7" name="Text 5"/>
          <p:cNvSpPr/>
          <p:nvPr/>
        </p:nvSpPr>
        <p:spPr>
          <a:xfrm>
            <a:off x="548640" y="2660904"/>
            <a:ext cx="6492240" cy="502920"/>
          </a:xfrm>
          <a:prstGeom prst="rect">
            <a:avLst/>
          </a:prstGeom>
          <a:noFill/>
          <a:ln/>
        </p:spPr>
        <p:txBody>
          <a:bodyPr wrap="square" lIns="0" tIns="0" rIns="0" bIns="0" rtlCol="0" anchor="t"/>
          <a:lstStyle/>
          <a:p>
            <a:pPr indent="0" marL="0">
              <a:buNone/>
            </a:pPr>
            <a:r>
              <a:rPr lang="en-US" sz="1100" dirty="0">
                <a:solidFill>
                  <a:srgbClr val="1F2937"/>
                </a:solidFill>
                <a:latin typeface="Arial" pitchFamily="34" charset="0"/>
                <a:ea typeface="Arial" pitchFamily="34" charset="-122"/>
                <a:cs typeface="Arial" pitchFamily="34" charset="-120"/>
              </a:rPr>
              <a:t>Form a 4–6 person Well‑being Steering Group with clear roles (executive sponsor, program owner, HR operations, frontline representative, data/measurement lead) and a published RACI for decisions, budgets, vendor selection, and site piloting.</a:t>
            </a:r>
            <a:endParaRPr lang="en-US" sz="1100" dirty="0"/>
          </a:p>
        </p:txBody>
      </p:sp>
      <p:sp>
        <p:nvSpPr>
          <p:cNvPr id="8" name="Text 6"/>
          <p:cNvSpPr/>
          <p:nvPr/>
        </p:nvSpPr>
        <p:spPr>
          <a:xfrm>
            <a:off x="548640" y="3328416"/>
            <a:ext cx="6492240"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SUGGESTED FIRST STEP</a:t>
            </a:r>
            <a:endParaRPr lang="en-US" sz="900" dirty="0"/>
          </a:p>
        </p:txBody>
      </p:sp>
      <p:sp>
        <p:nvSpPr>
          <p:cNvPr id="9" name="Text 7"/>
          <p:cNvSpPr/>
          <p:nvPr/>
        </p:nvSpPr>
        <p:spPr>
          <a:xfrm>
            <a:off x="548640" y="3547872"/>
            <a:ext cx="6492240" cy="502920"/>
          </a:xfrm>
          <a:prstGeom prst="rect">
            <a:avLst/>
          </a:prstGeom>
          <a:noFill/>
          <a:ln/>
        </p:spPr>
        <p:txBody>
          <a:bodyPr wrap="square" lIns="0" tIns="0" rIns="0" bIns="0" rtlCol="0" anchor="t"/>
          <a:lstStyle/>
          <a:p>
            <a:pPr indent="0" marL="0">
              <a:buNone/>
            </a:pPr>
            <a:r>
              <a:rPr lang="en-US" sz="1100" dirty="0">
                <a:solidFill>
                  <a:srgbClr val="1F2937"/>
                </a:solidFill>
                <a:latin typeface="Arial" pitchFamily="34" charset="0"/>
                <a:ea typeface="Arial" pitchFamily="34" charset="-122"/>
                <a:cs typeface="Arial" pitchFamily="34" charset="-120"/>
              </a:rPr>
              <a:t>Within 30 days convene a 90‑minute steering kickoff to confirm sponsor, name a program owner, and publish a one‑page decision RACI.</a:t>
            </a:r>
            <a:endParaRPr lang="en-US" sz="1100" dirty="0"/>
          </a:p>
        </p:txBody>
      </p:sp>
      <p:sp>
        <p:nvSpPr>
          <p:cNvPr id="10" name="Text 8"/>
          <p:cNvSpPr/>
          <p:nvPr/>
        </p:nvSpPr>
        <p:spPr>
          <a:xfrm>
            <a:off x="548640" y="4215384"/>
            <a:ext cx="6492240"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EXPECTED STRATEGIC IMPACT</a:t>
            </a:r>
            <a:endParaRPr lang="en-US" sz="900" dirty="0"/>
          </a:p>
        </p:txBody>
      </p:sp>
      <p:sp>
        <p:nvSpPr>
          <p:cNvPr id="11" name="Text 9"/>
          <p:cNvSpPr/>
          <p:nvPr/>
        </p:nvSpPr>
        <p:spPr>
          <a:xfrm>
            <a:off x="548640" y="4434840"/>
            <a:ext cx="6492240" cy="502920"/>
          </a:xfrm>
          <a:prstGeom prst="rect">
            <a:avLst/>
          </a:prstGeom>
          <a:noFill/>
          <a:ln/>
        </p:spPr>
        <p:txBody>
          <a:bodyPr wrap="square" lIns="0" tIns="0" rIns="0" bIns="0" rtlCol="0" anchor="t"/>
          <a:lstStyle/>
          <a:p>
            <a:pPr indent="0" marL="0">
              <a:buNone/>
            </a:pPr>
            <a:r>
              <a:rPr lang="en-US" sz="1100" dirty="0">
                <a:solidFill>
                  <a:srgbClr val="1F2937"/>
                </a:solidFill>
                <a:latin typeface="Arial" pitchFamily="34" charset="0"/>
                <a:ea typeface="Arial" pitchFamily="34" charset="-122"/>
                <a:cs typeface="Arial" pitchFamily="34" charset="-120"/>
              </a:rPr>
              <a:t>Enables faster decisions, consistent vendor/admin policy, and targeted pilots; expect measurable improvements in implementation speed and coordination within 3 months and improved cross‑site consistency within 6–9 months.</a:t>
            </a:r>
            <a:endParaRPr lang="en-US" sz="1100" dirty="0"/>
          </a:p>
        </p:txBody>
      </p:sp>
      <p:sp>
        <p:nvSpPr>
          <p:cNvPr id="12" name="Shape 10"/>
          <p:cNvSpPr/>
          <p:nvPr/>
        </p:nvSpPr>
        <p:spPr>
          <a:xfrm>
            <a:off x="7406640" y="1554480"/>
            <a:ext cx="4236415" cy="4572000"/>
          </a:xfrm>
          <a:prstGeom prst="rect">
            <a:avLst/>
          </a:prstGeom>
          <a:solidFill>
            <a:srgbClr val="F7F8FA"/>
          </a:solidFill>
          <a:ln/>
        </p:spPr>
      </p:sp>
      <p:sp>
        <p:nvSpPr>
          <p:cNvPr id="13" name="Text 11"/>
          <p:cNvSpPr/>
          <p:nvPr/>
        </p:nvSpPr>
        <p:spPr>
          <a:xfrm>
            <a:off x="7635240" y="1783080"/>
            <a:ext cx="3779215"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IMPLEMENTATION ORDER</a:t>
            </a:r>
            <a:endParaRPr lang="en-US" sz="900" dirty="0"/>
          </a:p>
        </p:txBody>
      </p:sp>
      <p:sp>
        <p:nvSpPr>
          <p:cNvPr id="14" name="Text 12"/>
          <p:cNvSpPr/>
          <p:nvPr/>
        </p:nvSpPr>
        <p:spPr>
          <a:xfrm>
            <a:off x="7635240" y="2011680"/>
            <a:ext cx="3779215" cy="822960"/>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Phase 1: Foundation</a:t>
            </a:r>
            <a:endParaRPr lang="en-US" sz="1000" dirty="0"/>
          </a:p>
        </p:txBody>
      </p:sp>
      <p:sp>
        <p:nvSpPr>
          <p:cNvPr id="15" name="Text 13"/>
          <p:cNvSpPr/>
          <p:nvPr/>
        </p:nvSpPr>
        <p:spPr>
          <a:xfrm>
            <a:off x="7635240" y="2971800"/>
            <a:ext cx="3779215"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INTEGRATED STRATEGY GUIDANCE</a:t>
            </a:r>
            <a:endParaRPr lang="en-US" sz="900" dirty="0"/>
          </a:p>
        </p:txBody>
      </p:sp>
      <p:sp>
        <p:nvSpPr>
          <p:cNvPr id="16" name="Text 14"/>
          <p:cNvSpPr/>
          <p:nvPr/>
        </p:nvSpPr>
        <p:spPr>
          <a:xfrm>
            <a:off x="7635240" y="3200400"/>
            <a:ext cx="3779215" cy="1371600"/>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Propel guidance recommends clarifying administrative ownership and decision rights as a foundational action</a:t>
            </a:r>
            <a:endParaRPr lang="en-US" sz="1000" dirty="0"/>
          </a:p>
        </p:txBody>
      </p:sp>
      <p:sp>
        <p:nvSpPr>
          <p:cNvPr id="17" name="Text 15"/>
          <p:cNvSpPr/>
          <p:nvPr/>
        </p:nvSpPr>
        <p:spPr>
          <a:xfrm>
            <a:off x="7635240" y="4663440"/>
            <a:ext cx="3779215"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RELATED ASSESSMENT FINDINGS</a:t>
            </a:r>
            <a:endParaRPr lang="en-US" sz="900" dirty="0"/>
          </a:p>
        </p:txBody>
      </p:sp>
      <p:sp>
        <p:nvSpPr>
          <p:cNvPr id="18" name="Text 16"/>
          <p:cNvSpPr/>
          <p:nvPr/>
        </p:nvSpPr>
        <p:spPr>
          <a:xfrm>
            <a:off x="7635240" y="4892040"/>
            <a:ext cx="3779215" cy="1143000"/>
          </a:xfrm>
          <a:prstGeom prst="rect">
            <a:avLst/>
          </a:prstGeom>
          <a:noFill/>
          <a:ln/>
        </p:spPr>
        <p:txBody>
          <a:bodyPr wrap="square" lIns="0" tIns="0" rIns="0" bIns="0" rtlCol="0" anchor="t"/>
          <a:lstStyle/>
          <a:p>
            <a:pPr indent="0" marL="0">
              <a:buNone/>
            </a:pPr>
            <a:r>
              <a:rPr lang="en-US" sz="950" i="1" dirty="0">
                <a:solidFill>
                  <a:srgbClr val="667085"/>
                </a:solidFill>
                <a:latin typeface="Arial" pitchFamily="34" charset="0"/>
                <a:ea typeface="Arial" pitchFamily="34" charset="-122"/>
                <a:cs typeface="Arial" pitchFamily="34" charset="-120"/>
              </a:rPr>
              <a:t>Very low ownership clarity and Strategy &amp; Leadership normalized score 50 show leadership support does not translate into defined decision rights; readiness indicators</a:t>
            </a:r>
            <a:endParaRPr lang="en-US" sz="950" dirty="0"/>
          </a:p>
        </p:txBody>
      </p:sp>
      <p:sp>
        <p:nvSpPr>
          <p:cNvPr id="19" name="Text 17"/>
          <p:cNvSpPr/>
          <p:nvPr/>
        </p:nvSpPr>
        <p:spPr>
          <a:xfrm>
            <a:off x="548640" y="6492240"/>
            <a:ext cx="2743200" cy="274320"/>
          </a:xfrm>
          <a:prstGeom prst="rect">
            <a:avLst/>
          </a:prstGeom>
          <a:noFill/>
          <a:ln/>
        </p:spPr>
        <p:txBody>
          <a:bodyPr wrap="square" rtlCol="0" anchor="ctr"/>
          <a:lstStyle/>
          <a:p>
            <a:pPr indent="0" marL="0">
              <a:buNone/>
            </a:pPr>
            <a:r>
              <a:rPr lang="en-US" sz="800" i="1" dirty="0">
                <a:solidFill>
                  <a:srgbClr val="667085"/>
                </a:solidFill>
                <a:latin typeface="Arial" pitchFamily="34" charset="0"/>
                <a:ea typeface="Arial" pitchFamily="34" charset="-122"/>
                <a:cs typeface="Arial" pitchFamily="34" charset="-120"/>
              </a:rPr>
              <a:t>Powered by Propel</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4572000" cy="274320"/>
          </a:xfrm>
          <a:prstGeom prst="rect">
            <a:avLst/>
          </a:prstGeom>
          <a:noFill/>
          <a:ln/>
        </p:spPr>
        <p:txBody>
          <a:bodyPr wrap="square" rtlCol="0" anchor="ctr"/>
          <a:lstStyle/>
          <a:p>
            <a:pPr indent="0" marL="0">
              <a:buNone/>
            </a:pPr>
            <a:r>
              <a:rPr lang="en-US" sz="1100" b="1" spc="100" kern="0" dirty="0">
                <a:solidFill>
                  <a:srgbClr val="E8813A"/>
                </a:solidFill>
                <a:latin typeface="Arial" pitchFamily="34" charset="0"/>
                <a:ea typeface="Arial" pitchFamily="34" charset="-122"/>
                <a:cs typeface="Arial" pitchFamily="34" charset="-120"/>
              </a:rPr>
              <a:t>RECOMMENDATION #2</a:t>
            </a:r>
            <a:endParaRPr lang="en-US" sz="1100" dirty="0"/>
          </a:p>
        </p:txBody>
      </p:sp>
      <p:sp>
        <p:nvSpPr>
          <p:cNvPr id="3" name="Text 1"/>
          <p:cNvSpPr/>
          <p:nvPr/>
        </p:nvSpPr>
        <p:spPr>
          <a:xfrm>
            <a:off x="548640" y="685800"/>
            <a:ext cx="11094415" cy="640080"/>
          </a:xfrm>
          <a:prstGeom prst="rect">
            <a:avLst/>
          </a:prstGeom>
          <a:noFill/>
          <a:ln/>
        </p:spPr>
        <p:txBody>
          <a:bodyPr wrap="square" lIns="0" tIns="0" rIns="0" bIns="0" rtlCol="0" anchor="ctr"/>
          <a:lstStyle/>
          <a:p>
            <a:pPr indent="0" marL="0">
              <a:buNone/>
            </a:pPr>
            <a:r>
              <a:rPr lang="en-US" sz="2000" b="1" dirty="0">
                <a:solidFill>
                  <a:srgbClr val="132340"/>
                </a:solidFill>
                <a:latin typeface="Arial" pitchFamily="34" charset="0"/>
                <a:ea typeface="Arial" pitchFamily="34" charset="-122"/>
                <a:cs typeface="Arial" pitchFamily="34" charset="-120"/>
              </a:rPr>
              <a:t>Define measurable well‑being objectives and baseline metrics</a:t>
            </a:r>
            <a:endParaRPr lang="en-US" sz="2000" dirty="0"/>
          </a:p>
        </p:txBody>
      </p:sp>
      <p:sp>
        <p:nvSpPr>
          <p:cNvPr id="4" name="Text 2"/>
          <p:cNvSpPr/>
          <p:nvPr/>
        </p:nvSpPr>
        <p:spPr>
          <a:xfrm>
            <a:off x="548640" y="1554480"/>
            <a:ext cx="6492240"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WHY THIS MATTERS</a:t>
            </a:r>
            <a:endParaRPr lang="en-US" sz="900" dirty="0"/>
          </a:p>
        </p:txBody>
      </p:sp>
      <p:sp>
        <p:nvSpPr>
          <p:cNvPr id="5" name="Text 3"/>
          <p:cNvSpPr/>
          <p:nvPr/>
        </p:nvSpPr>
        <p:spPr>
          <a:xfrm>
            <a:off x="548640" y="1773936"/>
            <a:ext cx="6492240" cy="502920"/>
          </a:xfrm>
          <a:prstGeom prst="rect">
            <a:avLst/>
          </a:prstGeom>
          <a:noFill/>
          <a:ln/>
        </p:spPr>
        <p:txBody>
          <a:bodyPr wrap="square" lIns="0" tIns="0" rIns="0" bIns="0" rtlCol="0" anchor="t"/>
          <a:lstStyle/>
          <a:p>
            <a:pPr indent="0" marL="0">
              <a:buNone/>
            </a:pPr>
            <a:r>
              <a:rPr lang="en-US" sz="1100" dirty="0">
                <a:solidFill>
                  <a:srgbClr val="1F2937"/>
                </a:solidFill>
                <a:latin typeface="Arial" pitchFamily="34" charset="0"/>
                <a:ea typeface="Arial" pitchFamily="34" charset="-122"/>
                <a:cs typeface="Arial" pitchFamily="34" charset="-120"/>
              </a:rPr>
              <a:t>Objectives convert activity into prioritized, measurable outcomes and enable targeted resource allocation and iterative improvement across sites and shifts.</a:t>
            </a:r>
            <a:endParaRPr lang="en-US" sz="1100" dirty="0"/>
          </a:p>
        </p:txBody>
      </p:sp>
      <p:sp>
        <p:nvSpPr>
          <p:cNvPr id="6" name="Text 4"/>
          <p:cNvSpPr/>
          <p:nvPr/>
        </p:nvSpPr>
        <p:spPr>
          <a:xfrm>
            <a:off x="548640" y="2441448"/>
            <a:ext cx="6492240"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RECOMMENDED ACTION</a:t>
            </a:r>
            <a:endParaRPr lang="en-US" sz="900" dirty="0"/>
          </a:p>
        </p:txBody>
      </p:sp>
      <p:sp>
        <p:nvSpPr>
          <p:cNvPr id="7" name="Text 5"/>
          <p:cNvSpPr/>
          <p:nvPr/>
        </p:nvSpPr>
        <p:spPr>
          <a:xfrm>
            <a:off x="548640" y="2660904"/>
            <a:ext cx="6492240" cy="502920"/>
          </a:xfrm>
          <a:prstGeom prst="rect">
            <a:avLst/>
          </a:prstGeom>
          <a:noFill/>
          <a:ln/>
        </p:spPr>
        <p:txBody>
          <a:bodyPr wrap="square" lIns="0" tIns="0" rIns="0" bIns="0" rtlCol="0" anchor="t"/>
          <a:lstStyle/>
          <a:p>
            <a:pPr indent="0" marL="0">
              <a:buNone/>
            </a:pPr>
            <a:r>
              <a:rPr lang="en-US" sz="1100" dirty="0">
                <a:solidFill>
                  <a:srgbClr val="1F2937"/>
                </a:solidFill>
                <a:latin typeface="Arial" pitchFamily="34" charset="0"/>
                <a:ea typeface="Arial" pitchFamily="34" charset="-122"/>
                <a:cs typeface="Arial" pitchFamily="34" charset="-120"/>
              </a:rPr>
              <a:t>Choose 3 primary KPIs (e.g., first‑action completion rate by site/shift, active participants per 100 employees by role, preventive‑care scheduling rate) and collect a 30‑day baseline segmented by site, shift, and role.</a:t>
            </a:r>
            <a:endParaRPr lang="en-US" sz="1100" dirty="0"/>
          </a:p>
        </p:txBody>
      </p:sp>
      <p:sp>
        <p:nvSpPr>
          <p:cNvPr id="8" name="Text 6"/>
          <p:cNvSpPr/>
          <p:nvPr/>
        </p:nvSpPr>
        <p:spPr>
          <a:xfrm>
            <a:off x="548640" y="3328416"/>
            <a:ext cx="6492240"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SUGGESTED FIRST STEP</a:t>
            </a:r>
            <a:endParaRPr lang="en-US" sz="900" dirty="0"/>
          </a:p>
        </p:txBody>
      </p:sp>
      <p:sp>
        <p:nvSpPr>
          <p:cNvPr id="9" name="Text 7"/>
          <p:cNvSpPr/>
          <p:nvPr/>
        </p:nvSpPr>
        <p:spPr>
          <a:xfrm>
            <a:off x="548640" y="3547872"/>
            <a:ext cx="6492240" cy="502920"/>
          </a:xfrm>
          <a:prstGeom prst="rect">
            <a:avLst/>
          </a:prstGeom>
          <a:noFill/>
          <a:ln/>
        </p:spPr>
        <p:txBody>
          <a:bodyPr wrap="square" lIns="0" tIns="0" rIns="0" bIns="0" rtlCol="0" anchor="t"/>
          <a:lstStyle/>
          <a:p>
            <a:pPr indent="0" marL="0">
              <a:buNone/>
            </a:pPr>
            <a:r>
              <a:rPr lang="en-US" sz="1100" dirty="0">
                <a:solidFill>
                  <a:srgbClr val="1F2937"/>
                </a:solidFill>
                <a:latin typeface="Arial" pitchFamily="34" charset="0"/>
                <a:ea typeface="Arial" pitchFamily="34" charset="-122"/>
                <a:cs typeface="Arial" pitchFamily="34" charset="-120"/>
              </a:rPr>
              <a:t>Within 30 days agree on the three KPIs and pull available program access/registration data to create baseline charts for the steering group to review.</a:t>
            </a:r>
            <a:endParaRPr lang="en-US" sz="1100" dirty="0"/>
          </a:p>
        </p:txBody>
      </p:sp>
      <p:sp>
        <p:nvSpPr>
          <p:cNvPr id="10" name="Text 8"/>
          <p:cNvSpPr/>
          <p:nvPr/>
        </p:nvSpPr>
        <p:spPr>
          <a:xfrm>
            <a:off x="548640" y="4215384"/>
            <a:ext cx="6492240"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EXPECTED STRATEGIC IMPACT</a:t>
            </a:r>
            <a:endParaRPr lang="en-US" sz="900" dirty="0"/>
          </a:p>
        </p:txBody>
      </p:sp>
      <p:sp>
        <p:nvSpPr>
          <p:cNvPr id="11" name="Text 9"/>
          <p:cNvSpPr/>
          <p:nvPr/>
        </p:nvSpPr>
        <p:spPr>
          <a:xfrm>
            <a:off x="548640" y="4434840"/>
            <a:ext cx="6492240" cy="502920"/>
          </a:xfrm>
          <a:prstGeom prst="rect">
            <a:avLst/>
          </a:prstGeom>
          <a:noFill/>
          <a:ln/>
        </p:spPr>
        <p:txBody>
          <a:bodyPr wrap="square" lIns="0" tIns="0" rIns="0" bIns="0" rtlCol="0" anchor="t"/>
          <a:lstStyle/>
          <a:p>
            <a:pPr indent="0" marL="0">
              <a:buNone/>
            </a:pPr>
            <a:r>
              <a:rPr lang="en-US" sz="1100" dirty="0">
                <a:solidFill>
                  <a:srgbClr val="1F2937"/>
                </a:solidFill>
                <a:latin typeface="Arial" pitchFamily="34" charset="0"/>
                <a:ea typeface="Arial" pitchFamily="34" charset="-122"/>
                <a:cs typeface="Arial" pitchFamily="34" charset="-120"/>
              </a:rPr>
              <a:t>Creates a data foundation for targeted interventions and shows progress in 90 days; within 6 months enables reallocation to underperforming sites and demonstrable engagement improvements.</a:t>
            </a:r>
            <a:endParaRPr lang="en-US" sz="1100" dirty="0"/>
          </a:p>
        </p:txBody>
      </p:sp>
      <p:sp>
        <p:nvSpPr>
          <p:cNvPr id="12" name="Shape 10"/>
          <p:cNvSpPr/>
          <p:nvPr/>
        </p:nvSpPr>
        <p:spPr>
          <a:xfrm>
            <a:off x="7406640" y="1554480"/>
            <a:ext cx="4236415" cy="4572000"/>
          </a:xfrm>
          <a:prstGeom prst="rect">
            <a:avLst/>
          </a:prstGeom>
          <a:solidFill>
            <a:srgbClr val="F7F8FA"/>
          </a:solidFill>
          <a:ln/>
        </p:spPr>
      </p:sp>
      <p:sp>
        <p:nvSpPr>
          <p:cNvPr id="13" name="Text 11"/>
          <p:cNvSpPr/>
          <p:nvPr/>
        </p:nvSpPr>
        <p:spPr>
          <a:xfrm>
            <a:off x="7635240" y="1783080"/>
            <a:ext cx="3779215"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IMPLEMENTATION ORDER</a:t>
            </a:r>
            <a:endParaRPr lang="en-US" sz="900" dirty="0"/>
          </a:p>
        </p:txBody>
      </p:sp>
      <p:sp>
        <p:nvSpPr>
          <p:cNvPr id="14" name="Text 12"/>
          <p:cNvSpPr/>
          <p:nvPr/>
        </p:nvSpPr>
        <p:spPr>
          <a:xfrm>
            <a:off x="7635240" y="2011680"/>
            <a:ext cx="3779215" cy="822960"/>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Phase 1: Foundation → Phase 2: Measurement and Learn</a:t>
            </a:r>
            <a:endParaRPr lang="en-US" sz="1000" dirty="0"/>
          </a:p>
        </p:txBody>
      </p:sp>
      <p:sp>
        <p:nvSpPr>
          <p:cNvPr id="15" name="Text 13"/>
          <p:cNvSpPr/>
          <p:nvPr/>
        </p:nvSpPr>
        <p:spPr>
          <a:xfrm>
            <a:off x="7635240" y="2971800"/>
            <a:ext cx="3779215"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INTEGRATED STRATEGY GUIDANCE</a:t>
            </a:r>
            <a:endParaRPr lang="en-US" sz="900" dirty="0"/>
          </a:p>
        </p:txBody>
      </p:sp>
      <p:sp>
        <p:nvSpPr>
          <p:cNvPr id="16" name="Text 14"/>
          <p:cNvSpPr/>
          <p:nvPr/>
        </p:nvSpPr>
        <p:spPr>
          <a:xfrm>
            <a:off x="7635240" y="3200400"/>
            <a:ext cx="3779215" cy="1371600"/>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Propel recommends selecting a small set of baseline metrics (three key metrics), establishing baselines, and using utilization analysis to identify gaps</a:t>
            </a:r>
            <a:endParaRPr lang="en-US" sz="1000" dirty="0"/>
          </a:p>
        </p:txBody>
      </p:sp>
      <p:sp>
        <p:nvSpPr>
          <p:cNvPr id="17" name="Text 15"/>
          <p:cNvSpPr/>
          <p:nvPr/>
        </p:nvSpPr>
        <p:spPr>
          <a:xfrm>
            <a:off x="7635240" y="4663440"/>
            <a:ext cx="3779215"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RELATED ASSESSMENT FINDINGS</a:t>
            </a:r>
            <a:endParaRPr lang="en-US" sz="900" dirty="0"/>
          </a:p>
        </p:txBody>
      </p:sp>
      <p:sp>
        <p:nvSpPr>
          <p:cNvPr id="18" name="Text 16"/>
          <p:cNvSpPr/>
          <p:nvPr/>
        </p:nvSpPr>
        <p:spPr>
          <a:xfrm>
            <a:off x="7635240" y="4892040"/>
            <a:ext cx="3779215" cy="1143000"/>
          </a:xfrm>
          <a:prstGeom prst="rect">
            <a:avLst/>
          </a:prstGeom>
          <a:noFill/>
          <a:ln/>
        </p:spPr>
        <p:txBody>
          <a:bodyPr wrap="square" lIns="0" tIns="0" rIns="0" bIns="0" rtlCol="0" anchor="t"/>
          <a:lstStyle/>
          <a:p>
            <a:pPr indent="0" marL="0">
              <a:buNone/>
            </a:pPr>
            <a:r>
              <a:rPr lang="en-US" sz="950" i="1" dirty="0">
                <a:solidFill>
                  <a:srgbClr val="667085"/>
                </a:solidFill>
                <a:latin typeface="Arial" pitchFamily="34" charset="0"/>
                <a:ea typeface="Arial" pitchFamily="34" charset="-122"/>
                <a:cs typeface="Arial" pitchFamily="34" charset="-120"/>
              </a:rPr>
              <a:t>Measurement &amp; Improvement normalized score is 55 and (use results to improve) scored 2; readiness indicators suggest</a:t>
            </a:r>
            <a:endParaRPr lang="en-US" sz="950" dirty="0"/>
          </a:p>
        </p:txBody>
      </p:sp>
      <p:sp>
        <p:nvSpPr>
          <p:cNvPr id="19" name="Text 17"/>
          <p:cNvSpPr/>
          <p:nvPr/>
        </p:nvSpPr>
        <p:spPr>
          <a:xfrm>
            <a:off x="548640" y="6492240"/>
            <a:ext cx="2743200" cy="274320"/>
          </a:xfrm>
          <a:prstGeom prst="rect">
            <a:avLst/>
          </a:prstGeom>
          <a:noFill/>
          <a:ln/>
        </p:spPr>
        <p:txBody>
          <a:bodyPr wrap="square" rtlCol="0" anchor="ctr"/>
          <a:lstStyle/>
          <a:p>
            <a:pPr indent="0" marL="0">
              <a:buNone/>
            </a:pPr>
            <a:r>
              <a:rPr lang="en-US" sz="800" i="1" dirty="0">
                <a:solidFill>
                  <a:srgbClr val="667085"/>
                </a:solidFill>
                <a:latin typeface="Arial" pitchFamily="34" charset="0"/>
                <a:ea typeface="Arial" pitchFamily="34" charset="-122"/>
                <a:cs typeface="Arial" pitchFamily="34" charset="-120"/>
              </a:rPr>
              <a:t>Powered by Propel</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4572000" cy="274320"/>
          </a:xfrm>
          <a:prstGeom prst="rect">
            <a:avLst/>
          </a:prstGeom>
          <a:noFill/>
          <a:ln/>
        </p:spPr>
        <p:txBody>
          <a:bodyPr wrap="square" rtlCol="0" anchor="ctr"/>
          <a:lstStyle/>
          <a:p>
            <a:pPr indent="0" marL="0">
              <a:buNone/>
            </a:pPr>
            <a:r>
              <a:rPr lang="en-US" sz="1100" b="1" spc="100" kern="0" dirty="0">
                <a:solidFill>
                  <a:srgbClr val="E8813A"/>
                </a:solidFill>
                <a:latin typeface="Arial" pitchFamily="34" charset="0"/>
                <a:ea typeface="Arial" pitchFamily="34" charset="-122"/>
                <a:cs typeface="Arial" pitchFamily="34" charset="-120"/>
              </a:rPr>
              <a:t>RECOMMENDATION #3</a:t>
            </a:r>
            <a:endParaRPr lang="en-US" sz="1100" dirty="0"/>
          </a:p>
        </p:txBody>
      </p:sp>
      <p:sp>
        <p:nvSpPr>
          <p:cNvPr id="3" name="Text 1"/>
          <p:cNvSpPr/>
          <p:nvPr/>
        </p:nvSpPr>
        <p:spPr>
          <a:xfrm>
            <a:off x="548640" y="685800"/>
            <a:ext cx="11094415" cy="640080"/>
          </a:xfrm>
          <a:prstGeom prst="rect">
            <a:avLst/>
          </a:prstGeom>
          <a:noFill/>
          <a:ln/>
        </p:spPr>
        <p:txBody>
          <a:bodyPr wrap="square" lIns="0" tIns="0" rIns="0" bIns="0" rtlCol="0" anchor="ctr"/>
          <a:lstStyle/>
          <a:p>
            <a:pPr indent="0" marL="0">
              <a:buNone/>
            </a:pPr>
            <a:r>
              <a:rPr lang="en-US" sz="2000" b="1" dirty="0">
                <a:solidFill>
                  <a:srgbClr val="132340"/>
                </a:solidFill>
                <a:latin typeface="Arial" pitchFamily="34" charset="0"/>
                <a:ea typeface="Arial" pitchFamily="34" charset="-122"/>
                <a:cs typeface="Arial" pitchFamily="34" charset="-120"/>
              </a:rPr>
              <a:t>Fix mobile and frontline access as a quick win</a:t>
            </a:r>
            <a:endParaRPr lang="en-US" sz="2000" dirty="0"/>
          </a:p>
        </p:txBody>
      </p:sp>
      <p:sp>
        <p:nvSpPr>
          <p:cNvPr id="4" name="Text 2"/>
          <p:cNvSpPr/>
          <p:nvPr/>
        </p:nvSpPr>
        <p:spPr>
          <a:xfrm>
            <a:off x="548640" y="1554480"/>
            <a:ext cx="6492240"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WHY THIS MATTERS</a:t>
            </a:r>
            <a:endParaRPr lang="en-US" sz="900" dirty="0"/>
          </a:p>
        </p:txBody>
      </p:sp>
      <p:sp>
        <p:nvSpPr>
          <p:cNvPr id="5" name="Text 3"/>
          <p:cNvSpPr/>
          <p:nvPr/>
        </p:nvSpPr>
        <p:spPr>
          <a:xfrm>
            <a:off x="548640" y="1773936"/>
            <a:ext cx="6492240" cy="502920"/>
          </a:xfrm>
          <a:prstGeom prst="rect">
            <a:avLst/>
          </a:prstGeom>
          <a:noFill/>
          <a:ln/>
        </p:spPr>
        <p:txBody>
          <a:bodyPr wrap="square" lIns="0" tIns="0" rIns="0" bIns="0" rtlCol="0" anchor="t"/>
          <a:lstStyle/>
          <a:p>
            <a:pPr indent="0" marL="0">
              <a:buNone/>
            </a:pPr>
            <a:r>
              <a:rPr lang="en-US" sz="1100" dirty="0">
                <a:solidFill>
                  <a:srgbClr val="1F2937"/>
                </a:solidFill>
                <a:latin typeface="Arial" pitchFamily="34" charset="0"/>
                <a:ea typeface="Arial" pitchFamily="34" charset="-122"/>
                <a:cs typeface="Arial" pitchFamily="34" charset="-120"/>
              </a:rPr>
              <a:t>Employees report extreme access friction (mobile access ) which blocks activation for shift, field, and deskless workers; removing this friction typically produces rapid participation gains in manufacturing contexts.</a:t>
            </a:r>
            <a:endParaRPr lang="en-US" sz="1100" dirty="0"/>
          </a:p>
        </p:txBody>
      </p:sp>
      <p:sp>
        <p:nvSpPr>
          <p:cNvPr id="6" name="Text 4"/>
          <p:cNvSpPr/>
          <p:nvPr/>
        </p:nvSpPr>
        <p:spPr>
          <a:xfrm>
            <a:off x="548640" y="2441448"/>
            <a:ext cx="6492240"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RECOMMENDED ACTION</a:t>
            </a:r>
            <a:endParaRPr lang="en-US" sz="900" dirty="0"/>
          </a:p>
        </p:txBody>
      </p:sp>
      <p:sp>
        <p:nvSpPr>
          <p:cNvPr id="7" name="Text 5"/>
          <p:cNvSpPr/>
          <p:nvPr/>
        </p:nvSpPr>
        <p:spPr>
          <a:xfrm>
            <a:off x="548640" y="2660904"/>
            <a:ext cx="6492240" cy="502920"/>
          </a:xfrm>
          <a:prstGeom prst="rect">
            <a:avLst/>
          </a:prstGeom>
          <a:noFill/>
          <a:ln/>
        </p:spPr>
        <p:txBody>
          <a:bodyPr wrap="square" lIns="0" tIns="0" rIns="0" bIns="0" rtlCol="0" anchor="t"/>
          <a:lstStyle/>
          <a:p>
            <a:pPr indent="0" marL="0">
              <a:buNone/>
            </a:pPr>
            <a:r>
              <a:rPr lang="en-US" sz="1100" dirty="0">
                <a:solidFill>
                  <a:srgbClr val="1F2937"/>
                </a:solidFill>
                <a:latin typeface="Arial" pitchFamily="34" charset="0"/>
                <a:ea typeface="Arial" pitchFamily="34" charset="-122"/>
                <a:cs typeface="Arial" pitchFamily="34" charset="-120"/>
              </a:rPr>
              <a:t>Conduct a 2‑week mobile UX and access audit, implement low‑friction authentication (SMS/QR-code/SSO options) and centralize links/resources on a single landing page accessible from phones and kiosks.</a:t>
            </a:r>
            <a:endParaRPr lang="en-US" sz="1100" dirty="0"/>
          </a:p>
        </p:txBody>
      </p:sp>
      <p:sp>
        <p:nvSpPr>
          <p:cNvPr id="8" name="Text 6"/>
          <p:cNvSpPr/>
          <p:nvPr/>
        </p:nvSpPr>
        <p:spPr>
          <a:xfrm>
            <a:off x="548640" y="3328416"/>
            <a:ext cx="6492240"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SUGGESTED FIRST STEP</a:t>
            </a:r>
            <a:endParaRPr lang="en-US" sz="900" dirty="0"/>
          </a:p>
        </p:txBody>
      </p:sp>
      <p:sp>
        <p:nvSpPr>
          <p:cNvPr id="9" name="Text 7"/>
          <p:cNvSpPr/>
          <p:nvPr/>
        </p:nvSpPr>
        <p:spPr>
          <a:xfrm>
            <a:off x="548640" y="3547872"/>
            <a:ext cx="6492240" cy="502920"/>
          </a:xfrm>
          <a:prstGeom prst="rect">
            <a:avLst/>
          </a:prstGeom>
          <a:noFill/>
          <a:ln/>
        </p:spPr>
        <p:txBody>
          <a:bodyPr wrap="square" lIns="0" tIns="0" rIns="0" bIns="0" rtlCol="0" anchor="t"/>
          <a:lstStyle/>
          <a:p>
            <a:pPr indent="0" marL="0">
              <a:buNone/>
            </a:pPr>
            <a:r>
              <a:rPr lang="en-US" sz="1100" dirty="0">
                <a:solidFill>
                  <a:srgbClr val="1F2937"/>
                </a:solidFill>
                <a:latin typeface="Arial" pitchFamily="34" charset="0"/>
                <a:ea typeface="Arial" pitchFamily="34" charset="-122"/>
                <a:cs typeface="Arial" pitchFamily="34" charset="-120"/>
              </a:rPr>
              <a:t>Within 30 days test the program on a mobile device, identify the top 3 usability barriers, and publish an interim mobile access path (QR code + short URL) at two pilot sites.</a:t>
            </a:r>
            <a:endParaRPr lang="en-US" sz="1100" dirty="0"/>
          </a:p>
        </p:txBody>
      </p:sp>
      <p:sp>
        <p:nvSpPr>
          <p:cNvPr id="10" name="Text 8"/>
          <p:cNvSpPr/>
          <p:nvPr/>
        </p:nvSpPr>
        <p:spPr>
          <a:xfrm>
            <a:off x="548640" y="4215384"/>
            <a:ext cx="6492240"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EXPECTED STRATEGIC IMPACT</a:t>
            </a:r>
            <a:endParaRPr lang="en-US" sz="900" dirty="0"/>
          </a:p>
        </p:txBody>
      </p:sp>
      <p:sp>
        <p:nvSpPr>
          <p:cNvPr id="11" name="Text 9"/>
          <p:cNvSpPr/>
          <p:nvPr/>
        </p:nvSpPr>
        <p:spPr>
          <a:xfrm>
            <a:off x="548640" y="4434840"/>
            <a:ext cx="6492240" cy="502920"/>
          </a:xfrm>
          <a:prstGeom prst="rect">
            <a:avLst/>
          </a:prstGeom>
          <a:noFill/>
          <a:ln/>
        </p:spPr>
        <p:txBody>
          <a:bodyPr wrap="square" lIns="0" tIns="0" rIns="0" bIns="0" rtlCol="0" anchor="t"/>
          <a:lstStyle/>
          <a:p>
            <a:pPr indent="0" marL="0">
              <a:buNone/>
            </a:pPr>
            <a:r>
              <a:rPr lang="en-US" sz="1100" dirty="0">
                <a:solidFill>
                  <a:srgbClr val="1F2937"/>
                </a:solidFill>
                <a:latin typeface="Arial" pitchFamily="34" charset="0"/>
                <a:ea typeface="Arial" pitchFamily="34" charset="-122"/>
                <a:cs typeface="Arial" pitchFamily="34" charset="-120"/>
              </a:rPr>
              <a:t>Reduces friction and increases access for frontline employees; expect measurable uplift in first‑action completion from pilot sites within 30–60 days and broader rollout improvement within 3–6 months.</a:t>
            </a:r>
            <a:endParaRPr lang="en-US" sz="1100" dirty="0"/>
          </a:p>
        </p:txBody>
      </p:sp>
      <p:sp>
        <p:nvSpPr>
          <p:cNvPr id="12" name="Shape 10"/>
          <p:cNvSpPr/>
          <p:nvPr/>
        </p:nvSpPr>
        <p:spPr>
          <a:xfrm>
            <a:off x="7406640" y="1554480"/>
            <a:ext cx="4236415" cy="4572000"/>
          </a:xfrm>
          <a:prstGeom prst="rect">
            <a:avLst/>
          </a:prstGeom>
          <a:solidFill>
            <a:srgbClr val="F7F8FA"/>
          </a:solidFill>
          <a:ln/>
        </p:spPr>
      </p:sp>
      <p:sp>
        <p:nvSpPr>
          <p:cNvPr id="13" name="Text 11"/>
          <p:cNvSpPr/>
          <p:nvPr/>
        </p:nvSpPr>
        <p:spPr>
          <a:xfrm>
            <a:off x="7635240" y="1783080"/>
            <a:ext cx="3779215"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IMPLEMENTATION ORDER</a:t>
            </a:r>
            <a:endParaRPr lang="en-US" sz="900" dirty="0"/>
          </a:p>
        </p:txBody>
      </p:sp>
      <p:sp>
        <p:nvSpPr>
          <p:cNvPr id="14" name="Text 12"/>
          <p:cNvSpPr/>
          <p:nvPr/>
        </p:nvSpPr>
        <p:spPr>
          <a:xfrm>
            <a:off x="7635240" y="2011680"/>
            <a:ext cx="3779215" cy="822960"/>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Phase 1: Foundation (parallel quick win) → Phase 2: Build</a:t>
            </a:r>
            <a:endParaRPr lang="en-US" sz="1000" dirty="0"/>
          </a:p>
        </p:txBody>
      </p:sp>
      <p:sp>
        <p:nvSpPr>
          <p:cNvPr id="15" name="Text 13"/>
          <p:cNvSpPr/>
          <p:nvPr/>
        </p:nvSpPr>
        <p:spPr>
          <a:xfrm>
            <a:off x="7635240" y="2971800"/>
            <a:ext cx="3779215"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INTEGRATED STRATEGY GUIDANCE</a:t>
            </a:r>
            <a:endParaRPr lang="en-US" sz="900" dirty="0"/>
          </a:p>
        </p:txBody>
      </p:sp>
      <p:sp>
        <p:nvSpPr>
          <p:cNvPr id="16" name="Text 14"/>
          <p:cNvSpPr/>
          <p:nvPr/>
        </p:nvSpPr>
        <p:spPr>
          <a:xfrm>
            <a:off x="7635240" y="3200400"/>
            <a:ext cx="3779215" cy="1371600"/>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Propel quick‑win guidance recommends a mobile/platform audit and low‑friction access paths (QR codes, SMS, onsite kiosks)</a:t>
            </a:r>
            <a:endParaRPr lang="en-US" sz="1000" dirty="0"/>
          </a:p>
        </p:txBody>
      </p:sp>
      <p:sp>
        <p:nvSpPr>
          <p:cNvPr id="17" name="Text 15"/>
          <p:cNvSpPr/>
          <p:nvPr/>
        </p:nvSpPr>
        <p:spPr>
          <a:xfrm>
            <a:off x="7635240" y="4663440"/>
            <a:ext cx="3779215"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RELATED ASSESSMENT FINDINGS</a:t>
            </a:r>
            <a:endParaRPr lang="en-US" sz="900" dirty="0"/>
          </a:p>
        </p:txBody>
      </p:sp>
      <p:sp>
        <p:nvSpPr>
          <p:cNvPr id="18" name="Text 16"/>
          <p:cNvSpPr/>
          <p:nvPr/>
        </p:nvSpPr>
        <p:spPr>
          <a:xfrm>
            <a:off x="7635240" y="4892040"/>
            <a:ext cx="3779215" cy="1143000"/>
          </a:xfrm>
          <a:prstGeom prst="rect">
            <a:avLst/>
          </a:prstGeom>
          <a:noFill/>
          <a:ln/>
        </p:spPr>
        <p:txBody>
          <a:bodyPr wrap="square" lIns="0" tIns="0" rIns="0" bIns="0" rtlCol="0" anchor="t"/>
          <a:lstStyle/>
          <a:p>
            <a:pPr indent="0" marL="0">
              <a:buNone/>
            </a:pPr>
            <a:r>
              <a:rPr lang="en-US" sz="950" i="1" dirty="0">
                <a:solidFill>
                  <a:srgbClr val="667085"/>
                </a:solidFill>
                <a:latin typeface="Arial" pitchFamily="34" charset="0"/>
                <a:ea typeface="Arial" pitchFamily="34" charset="-122"/>
                <a:cs typeface="Arial" pitchFamily="34" charset="-120"/>
              </a:rPr>
              <a:t>Very low mobile access and Experience &amp; Access normalized score 55 indicate digital/usability issues for frontline staff; manufacturing guidance highlights limited computer access and preferred mobile/QR/text pathways.</a:t>
            </a:r>
            <a:endParaRPr lang="en-US" sz="950" dirty="0"/>
          </a:p>
        </p:txBody>
      </p:sp>
      <p:sp>
        <p:nvSpPr>
          <p:cNvPr id="19" name="Text 17"/>
          <p:cNvSpPr/>
          <p:nvPr/>
        </p:nvSpPr>
        <p:spPr>
          <a:xfrm>
            <a:off x="548640" y="6492240"/>
            <a:ext cx="2743200" cy="274320"/>
          </a:xfrm>
          <a:prstGeom prst="rect">
            <a:avLst/>
          </a:prstGeom>
          <a:noFill/>
          <a:ln/>
        </p:spPr>
        <p:txBody>
          <a:bodyPr wrap="square" rtlCol="0" anchor="ctr"/>
          <a:lstStyle/>
          <a:p>
            <a:pPr indent="0" marL="0">
              <a:buNone/>
            </a:pPr>
            <a:r>
              <a:rPr lang="en-US" sz="800" i="1" dirty="0">
                <a:solidFill>
                  <a:srgbClr val="667085"/>
                </a:solidFill>
                <a:latin typeface="Arial" pitchFamily="34" charset="0"/>
                <a:ea typeface="Arial" pitchFamily="34" charset="-122"/>
                <a:cs typeface="Arial" pitchFamily="34" charset="-120"/>
              </a:rPr>
              <a:t>Powered by Propel</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4572000" cy="274320"/>
          </a:xfrm>
          <a:prstGeom prst="rect">
            <a:avLst/>
          </a:prstGeom>
          <a:noFill/>
          <a:ln/>
        </p:spPr>
        <p:txBody>
          <a:bodyPr wrap="square" rtlCol="0" anchor="ctr"/>
          <a:lstStyle/>
          <a:p>
            <a:pPr indent="0" marL="0">
              <a:buNone/>
            </a:pPr>
            <a:r>
              <a:rPr lang="en-US" sz="1100" b="1" spc="100" kern="0" dirty="0">
                <a:solidFill>
                  <a:srgbClr val="E8813A"/>
                </a:solidFill>
                <a:latin typeface="Arial" pitchFamily="34" charset="0"/>
                <a:ea typeface="Arial" pitchFamily="34" charset="-122"/>
                <a:cs typeface="Arial" pitchFamily="34" charset="-120"/>
              </a:rPr>
              <a:t>RECOMMENDATION #4</a:t>
            </a:r>
            <a:endParaRPr lang="en-US" sz="1100" dirty="0"/>
          </a:p>
        </p:txBody>
      </p:sp>
      <p:sp>
        <p:nvSpPr>
          <p:cNvPr id="3" name="Text 1"/>
          <p:cNvSpPr/>
          <p:nvPr/>
        </p:nvSpPr>
        <p:spPr>
          <a:xfrm>
            <a:off x="548640" y="685800"/>
            <a:ext cx="11094415" cy="640080"/>
          </a:xfrm>
          <a:prstGeom prst="rect">
            <a:avLst/>
          </a:prstGeom>
          <a:noFill/>
          <a:ln/>
        </p:spPr>
        <p:txBody>
          <a:bodyPr wrap="square" lIns="0" tIns="0" rIns="0" bIns="0" rtlCol="0" anchor="ctr"/>
          <a:lstStyle/>
          <a:p>
            <a:pPr indent="0" marL="0">
              <a:buNone/>
            </a:pPr>
            <a:r>
              <a:rPr lang="en-US" sz="2000" b="1" dirty="0">
                <a:solidFill>
                  <a:srgbClr val="132340"/>
                </a:solidFill>
                <a:latin typeface="Arial" pitchFamily="34" charset="0"/>
                <a:ea typeface="Arial" pitchFamily="34" charset="-122"/>
                <a:cs typeface="Arial" pitchFamily="34" charset="-120"/>
              </a:rPr>
              <a:t>Create a guided starting experience and equip managers as activators</a:t>
            </a:r>
            <a:endParaRPr lang="en-US" sz="2000" dirty="0"/>
          </a:p>
        </p:txBody>
      </p:sp>
      <p:sp>
        <p:nvSpPr>
          <p:cNvPr id="4" name="Text 2"/>
          <p:cNvSpPr/>
          <p:nvPr/>
        </p:nvSpPr>
        <p:spPr>
          <a:xfrm>
            <a:off x="548640" y="1554480"/>
            <a:ext cx="6492240"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WHY THIS MATTERS</a:t>
            </a:r>
            <a:endParaRPr lang="en-US" sz="900" dirty="0"/>
          </a:p>
        </p:txBody>
      </p:sp>
      <p:sp>
        <p:nvSpPr>
          <p:cNvPr id="5" name="Text 3"/>
          <p:cNvSpPr/>
          <p:nvPr/>
        </p:nvSpPr>
        <p:spPr>
          <a:xfrm>
            <a:off x="548640" y="1773936"/>
            <a:ext cx="6492240" cy="502920"/>
          </a:xfrm>
          <a:prstGeom prst="rect">
            <a:avLst/>
          </a:prstGeom>
          <a:noFill/>
          <a:ln/>
        </p:spPr>
        <p:txBody>
          <a:bodyPr wrap="square" lIns="0" tIns="0" rIns="0" bIns="0" rtlCol="0" anchor="t"/>
          <a:lstStyle/>
          <a:p>
            <a:pPr indent="0" marL="0">
              <a:buNone/>
            </a:pPr>
            <a:r>
              <a:rPr lang="en-US" sz="1100" dirty="0">
                <a:solidFill>
                  <a:srgbClr val="1F2937"/>
                </a:solidFill>
                <a:latin typeface="Arial" pitchFamily="34" charset="0"/>
                <a:ea typeface="Arial" pitchFamily="34" charset="-122"/>
                <a:cs typeface="Arial" pitchFamily="34" charset="-120"/>
              </a:rPr>
              <a:t>Employees need an immediate, simple next step and social cues; a guided start reduces cognitive load and manager prompts amplify adoption in manufacturing sites where pre‑shift huddles and champions matter.</a:t>
            </a:r>
            <a:endParaRPr lang="en-US" sz="1100" dirty="0"/>
          </a:p>
        </p:txBody>
      </p:sp>
      <p:sp>
        <p:nvSpPr>
          <p:cNvPr id="6" name="Text 4"/>
          <p:cNvSpPr/>
          <p:nvPr/>
        </p:nvSpPr>
        <p:spPr>
          <a:xfrm>
            <a:off x="548640" y="2441448"/>
            <a:ext cx="6492240"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RECOMMENDED ACTION</a:t>
            </a:r>
            <a:endParaRPr lang="en-US" sz="900" dirty="0"/>
          </a:p>
        </p:txBody>
      </p:sp>
      <p:sp>
        <p:nvSpPr>
          <p:cNvPr id="7" name="Text 5"/>
          <p:cNvSpPr/>
          <p:nvPr/>
        </p:nvSpPr>
        <p:spPr>
          <a:xfrm>
            <a:off x="548640" y="2660904"/>
            <a:ext cx="6492240" cy="502920"/>
          </a:xfrm>
          <a:prstGeom prst="rect">
            <a:avLst/>
          </a:prstGeom>
          <a:noFill/>
          <a:ln/>
        </p:spPr>
        <p:txBody>
          <a:bodyPr wrap="square" lIns="0" tIns="0" rIns="0" bIns="0" rtlCol="0" anchor="t"/>
          <a:lstStyle/>
          <a:p>
            <a:pPr indent="0" marL="0">
              <a:buNone/>
            </a:pPr>
            <a:r>
              <a:rPr lang="en-US" sz="1100" dirty="0">
                <a:solidFill>
                  <a:srgbClr val="1F2937"/>
                </a:solidFill>
                <a:latin typeface="Arial" pitchFamily="34" charset="0"/>
                <a:ea typeface="Arial" pitchFamily="34" charset="-122"/>
                <a:cs typeface="Arial" pitchFamily="34" charset="-120"/>
              </a:rPr>
              <a:t>Build a single landing experience: clear EVP, one prioritized next action (micro‑action), visible progress marker, and a 15‑minute manager brief and script for pre‑shift mentions and onsite champions.</a:t>
            </a:r>
            <a:endParaRPr lang="en-US" sz="1100" dirty="0"/>
          </a:p>
        </p:txBody>
      </p:sp>
      <p:sp>
        <p:nvSpPr>
          <p:cNvPr id="8" name="Text 6"/>
          <p:cNvSpPr/>
          <p:nvPr/>
        </p:nvSpPr>
        <p:spPr>
          <a:xfrm>
            <a:off x="548640" y="3328416"/>
            <a:ext cx="6492240"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SUGGESTED FIRST STEP</a:t>
            </a:r>
            <a:endParaRPr lang="en-US" sz="900" dirty="0"/>
          </a:p>
        </p:txBody>
      </p:sp>
      <p:sp>
        <p:nvSpPr>
          <p:cNvPr id="9" name="Text 7"/>
          <p:cNvSpPr/>
          <p:nvPr/>
        </p:nvSpPr>
        <p:spPr>
          <a:xfrm>
            <a:off x="548640" y="3547872"/>
            <a:ext cx="6492240" cy="502920"/>
          </a:xfrm>
          <a:prstGeom prst="rect">
            <a:avLst/>
          </a:prstGeom>
          <a:noFill/>
          <a:ln/>
        </p:spPr>
        <p:txBody>
          <a:bodyPr wrap="square" lIns="0" tIns="0" rIns="0" bIns="0" rtlCol="0" anchor="t"/>
          <a:lstStyle/>
          <a:p>
            <a:pPr indent="0" marL="0">
              <a:buNone/>
            </a:pPr>
            <a:r>
              <a:rPr lang="en-US" sz="1100" dirty="0">
                <a:solidFill>
                  <a:srgbClr val="1F2937"/>
                </a:solidFill>
                <a:latin typeface="Arial" pitchFamily="34" charset="0"/>
                <a:ea typeface="Arial" pitchFamily="34" charset="-122"/>
                <a:cs typeface="Arial" pitchFamily="34" charset="-120"/>
              </a:rPr>
              <a:t>Within 30 days publish a one‑page landing flow and run a 15‑minute manager briefing at two pilot sites; measure first‑action completion in those sites that week.</a:t>
            </a:r>
            <a:endParaRPr lang="en-US" sz="1100" dirty="0"/>
          </a:p>
        </p:txBody>
      </p:sp>
      <p:sp>
        <p:nvSpPr>
          <p:cNvPr id="10" name="Text 8"/>
          <p:cNvSpPr/>
          <p:nvPr/>
        </p:nvSpPr>
        <p:spPr>
          <a:xfrm>
            <a:off x="548640" y="4215384"/>
            <a:ext cx="6492240"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EXPECTED STRATEGIC IMPACT</a:t>
            </a:r>
            <a:endParaRPr lang="en-US" sz="900" dirty="0"/>
          </a:p>
        </p:txBody>
      </p:sp>
      <p:sp>
        <p:nvSpPr>
          <p:cNvPr id="11" name="Text 9"/>
          <p:cNvSpPr/>
          <p:nvPr/>
        </p:nvSpPr>
        <p:spPr>
          <a:xfrm>
            <a:off x="548640" y="4434840"/>
            <a:ext cx="6492240" cy="502920"/>
          </a:xfrm>
          <a:prstGeom prst="rect">
            <a:avLst/>
          </a:prstGeom>
          <a:noFill/>
          <a:ln/>
        </p:spPr>
        <p:txBody>
          <a:bodyPr wrap="square" lIns="0" tIns="0" rIns="0" bIns="0" rtlCol="0" anchor="t"/>
          <a:lstStyle/>
          <a:p>
            <a:pPr indent="0" marL="0">
              <a:buNone/>
            </a:pPr>
            <a:r>
              <a:rPr lang="en-US" sz="1100" dirty="0">
                <a:solidFill>
                  <a:srgbClr val="1F2937"/>
                </a:solidFill>
                <a:latin typeface="Arial" pitchFamily="34" charset="0"/>
                <a:ea typeface="Arial" pitchFamily="34" charset="-122"/>
                <a:cs typeface="Arial" pitchFamily="34" charset="-120"/>
              </a:rPr>
              <a:t>Improves first‑action completion and early momentum; expect visible increases in activation in pilot sites within 30–60 days and wider cultural normalization and improved social proof within 3–6 months.</a:t>
            </a:r>
            <a:endParaRPr lang="en-US" sz="1100" dirty="0"/>
          </a:p>
        </p:txBody>
      </p:sp>
      <p:sp>
        <p:nvSpPr>
          <p:cNvPr id="12" name="Shape 10"/>
          <p:cNvSpPr/>
          <p:nvPr/>
        </p:nvSpPr>
        <p:spPr>
          <a:xfrm>
            <a:off x="7406640" y="1554480"/>
            <a:ext cx="4236415" cy="4572000"/>
          </a:xfrm>
          <a:prstGeom prst="rect">
            <a:avLst/>
          </a:prstGeom>
          <a:solidFill>
            <a:srgbClr val="F7F8FA"/>
          </a:solidFill>
          <a:ln/>
        </p:spPr>
      </p:sp>
      <p:sp>
        <p:nvSpPr>
          <p:cNvPr id="13" name="Text 11"/>
          <p:cNvSpPr/>
          <p:nvPr/>
        </p:nvSpPr>
        <p:spPr>
          <a:xfrm>
            <a:off x="7635240" y="1783080"/>
            <a:ext cx="3779215"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IMPLEMENTATION ORDER</a:t>
            </a:r>
            <a:endParaRPr lang="en-US" sz="900" dirty="0"/>
          </a:p>
        </p:txBody>
      </p:sp>
      <p:sp>
        <p:nvSpPr>
          <p:cNvPr id="14" name="Text 12"/>
          <p:cNvSpPr/>
          <p:nvPr/>
        </p:nvSpPr>
        <p:spPr>
          <a:xfrm>
            <a:off x="7635240" y="2011680"/>
            <a:ext cx="3779215" cy="822960"/>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Phase 1: Foundation (guided start &amp; manager enablement quick wins) → Phase 2: Build (site‑by‑site activation)</a:t>
            </a:r>
            <a:endParaRPr lang="en-US" sz="1000" dirty="0"/>
          </a:p>
        </p:txBody>
      </p:sp>
      <p:sp>
        <p:nvSpPr>
          <p:cNvPr id="15" name="Text 13"/>
          <p:cNvSpPr/>
          <p:nvPr/>
        </p:nvSpPr>
        <p:spPr>
          <a:xfrm>
            <a:off x="7635240" y="2971800"/>
            <a:ext cx="3779215"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INTEGRATED STRATEGY GUIDANCE</a:t>
            </a:r>
            <a:endParaRPr lang="en-US" sz="900" dirty="0"/>
          </a:p>
        </p:txBody>
      </p:sp>
      <p:sp>
        <p:nvSpPr>
          <p:cNvPr id="16" name="Text 14"/>
          <p:cNvSpPr/>
          <p:nvPr/>
        </p:nvSpPr>
        <p:spPr>
          <a:xfrm>
            <a:off x="7635240" y="3200400"/>
            <a:ext cx="3779215" cy="1371600"/>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Propel recommends a one‑minute guided starting experience (explain EVP, show one next action, micro‑actions) and short manager training modules/ scripts to generate social proof</a:t>
            </a:r>
            <a:endParaRPr lang="en-US" sz="1000" dirty="0"/>
          </a:p>
        </p:txBody>
      </p:sp>
      <p:sp>
        <p:nvSpPr>
          <p:cNvPr id="17" name="Text 15"/>
          <p:cNvSpPr/>
          <p:nvPr/>
        </p:nvSpPr>
        <p:spPr>
          <a:xfrm>
            <a:off x="7635240" y="4663440"/>
            <a:ext cx="3779215" cy="201168"/>
          </a:xfrm>
          <a:prstGeom prst="rect">
            <a:avLst/>
          </a:prstGeom>
          <a:noFill/>
          <a:ln/>
        </p:spPr>
        <p:txBody>
          <a:bodyPr wrap="square" rtlCol="0" anchor="ctr"/>
          <a:lstStyle/>
          <a:p>
            <a:pPr indent="0" marL="0">
              <a:buNone/>
            </a:pPr>
            <a:r>
              <a:rPr lang="en-US" sz="900" b="1" spc="100" kern="0" dirty="0">
                <a:solidFill>
                  <a:srgbClr val="667085"/>
                </a:solidFill>
                <a:latin typeface="Arial" pitchFamily="34" charset="0"/>
                <a:ea typeface="Arial" pitchFamily="34" charset="-122"/>
                <a:cs typeface="Arial" pitchFamily="34" charset="-120"/>
              </a:rPr>
              <a:t>RELATED ASSESSMENT FINDINGS</a:t>
            </a:r>
            <a:endParaRPr lang="en-US" sz="900" dirty="0"/>
          </a:p>
        </p:txBody>
      </p:sp>
      <p:sp>
        <p:nvSpPr>
          <p:cNvPr id="18" name="Text 16"/>
          <p:cNvSpPr/>
          <p:nvPr/>
        </p:nvSpPr>
        <p:spPr>
          <a:xfrm>
            <a:off x="7635240" y="4892040"/>
            <a:ext cx="3779215" cy="1143000"/>
          </a:xfrm>
          <a:prstGeom prst="rect">
            <a:avLst/>
          </a:prstGeom>
          <a:noFill/>
          <a:ln/>
        </p:spPr>
        <p:txBody>
          <a:bodyPr wrap="square" lIns="0" tIns="0" rIns="0" bIns="0" rtlCol="0" anchor="t"/>
          <a:lstStyle/>
          <a:p>
            <a:pPr indent="0" marL="0">
              <a:buNone/>
            </a:pPr>
            <a:r>
              <a:rPr lang="en-US" sz="950" i="1" dirty="0">
                <a:solidFill>
                  <a:srgbClr val="667085"/>
                </a:solidFill>
                <a:latin typeface="Arial" pitchFamily="34" charset="0"/>
                <a:ea typeface="Arial" pitchFamily="34" charset="-122"/>
                <a:cs typeface="Arial" pitchFamily="34" charset="-120"/>
              </a:rPr>
              <a:t>Clarity signals are weak and while some communications are consistent tailoring and employee relevance are low . Social proof is low despite managers showing some reinforcement , indicating opportunity to align manager prompts with a simple guided start.</a:t>
            </a:r>
            <a:endParaRPr lang="en-US" sz="950" dirty="0"/>
          </a:p>
        </p:txBody>
      </p:sp>
      <p:sp>
        <p:nvSpPr>
          <p:cNvPr id="19" name="Text 17"/>
          <p:cNvSpPr/>
          <p:nvPr/>
        </p:nvSpPr>
        <p:spPr>
          <a:xfrm>
            <a:off x="548640" y="6492240"/>
            <a:ext cx="2743200" cy="274320"/>
          </a:xfrm>
          <a:prstGeom prst="rect">
            <a:avLst/>
          </a:prstGeom>
          <a:noFill/>
          <a:ln/>
        </p:spPr>
        <p:txBody>
          <a:bodyPr wrap="square" rtlCol="0" anchor="ctr"/>
          <a:lstStyle/>
          <a:p>
            <a:pPr indent="0" marL="0">
              <a:buNone/>
            </a:pPr>
            <a:r>
              <a:rPr lang="en-US" sz="800" i="1" dirty="0">
                <a:solidFill>
                  <a:srgbClr val="667085"/>
                </a:solidFill>
                <a:latin typeface="Arial" pitchFamily="34" charset="0"/>
                <a:ea typeface="Arial" pitchFamily="34" charset="-122"/>
                <a:cs typeface="Arial" pitchFamily="34" charset="-120"/>
              </a:rPr>
              <a:t>Powered by Propel</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457200"/>
          </a:xfrm>
          <a:prstGeom prst="rect">
            <a:avLst/>
          </a:prstGeom>
          <a:noFill/>
          <a:ln/>
        </p:spPr>
        <p:txBody>
          <a:bodyPr wrap="square" rtlCol="0" anchor="ctr"/>
          <a:lstStyle/>
          <a:p>
            <a:pPr indent="0" marL="0">
              <a:buNone/>
            </a:pPr>
            <a:r>
              <a:rPr lang="en-US" sz="2400" b="1" dirty="0">
                <a:solidFill>
                  <a:srgbClr val="132340"/>
                </a:solidFill>
                <a:latin typeface="Arial" pitchFamily="34" charset="0"/>
                <a:ea typeface="Arial" pitchFamily="34" charset="-122"/>
                <a:cs typeface="Arial" pitchFamily="34" charset="-120"/>
              </a:rPr>
              <a:t>Recommended Implementation Sequence</a:t>
            </a:r>
            <a:endParaRPr lang="en-US" sz="2400" dirty="0"/>
          </a:p>
        </p:txBody>
      </p:sp>
      <p:sp>
        <p:nvSpPr>
          <p:cNvPr id="3" name="Shape 1"/>
          <p:cNvSpPr/>
          <p:nvPr/>
        </p:nvSpPr>
        <p:spPr>
          <a:xfrm>
            <a:off x="548640" y="1188720"/>
            <a:ext cx="3454298" cy="3017520"/>
          </a:xfrm>
          <a:prstGeom prst="rect">
            <a:avLst/>
          </a:prstGeom>
          <a:solidFill>
            <a:srgbClr val="F7F8FA"/>
          </a:solidFill>
          <a:ln/>
        </p:spPr>
      </p:sp>
      <p:sp>
        <p:nvSpPr>
          <p:cNvPr id="4" name="Shape 2"/>
          <p:cNvSpPr/>
          <p:nvPr/>
        </p:nvSpPr>
        <p:spPr>
          <a:xfrm>
            <a:off x="777240" y="1417320"/>
            <a:ext cx="365760" cy="365760"/>
          </a:xfrm>
          <a:prstGeom prst="ellipse">
            <a:avLst/>
          </a:prstGeom>
          <a:solidFill>
            <a:srgbClr val="E8813A"/>
          </a:solidFill>
          <a:ln/>
        </p:spPr>
      </p:sp>
      <p:sp>
        <p:nvSpPr>
          <p:cNvPr id="5" name="Text 3"/>
          <p:cNvSpPr/>
          <p:nvPr/>
        </p:nvSpPr>
        <p:spPr>
          <a:xfrm>
            <a:off x="777240" y="14173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p:nvPr/>
        </p:nvSpPr>
        <p:spPr>
          <a:xfrm>
            <a:off x="777240" y="1920240"/>
            <a:ext cx="2997098" cy="502920"/>
          </a:xfrm>
          <a:prstGeom prst="rect">
            <a:avLst/>
          </a:prstGeom>
          <a:noFill/>
          <a:ln/>
        </p:spPr>
        <p:txBody>
          <a:bodyPr wrap="square" lIns="0" tIns="0" rIns="0" bIns="0" rtlCol="0" anchor="t"/>
          <a:lstStyle/>
          <a:p>
            <a:pPr indent="0" marL="0">
              <a:buNone/>
            </a:pPr>
            <a:r>
              <a:rPr lang="en-US" sz="1300" b="1" dirty="0">
                <a:solidFill>
                  <a:srgbClr val="132340"/>
                </a:solidFill>
                <a:latin typeface="Arial" pitchFamily="34" charset="0"/>
                <a:ea typeface="Arial" pitchFamily="34" charset="-122"/>
                <a:cs typeface="Arial" pitchFamily="34" charset="-120"/>
              </a:rPr>
              <a:t>Phase 1</a:t>
            </a:r>
            <a:endParaRPr lang="en-US" sz="1300" dirty="0"/>
          </a:p>
        </p:txBody>
      </p:sp>
      <p:sp>
        <p:nvSpPr>
          <p:cNvPr id="7" name="Text 5"/>
          <p:cNvSpPr/>
          <p:nvPr/>
        </p:nvSpPr>
        <p:spPr>
          <a:xfrm>
            <a:off x="777240" y="2468880"/>
            <a:ext cx="2997098" cy="1554480"/>
          </a:xfrm>
          <a:prstGeom prst="rect">
            <a:avLst/>
          </a:prstGeom>
          <a:noFill/>
          <a:ln/>
        </p:spPr>
        <p:txBody>
          <a:bodyPr wrap="square" lIns="0" tIns="0" rIns="0" bIns="0" rtlCol="0" anchor="t"/>
          <a:lstStyle/>
          <a:p>
            <a:pPr indent="0" marL="0">
              <a:buNone/>
            </a:pPr>
            <a:r>
              <a:rPr lang="en-US" sz="1100" dirty="0">
                <a:solidFill>
                  <a:srgbClr val="1F2937"/>
                </a:solidFill>
                <a:latin typeface="Arial" pitchFamily="34" charset="0"/>
                <a:ea typeface="Arial" pitchFamily="34" charset="-122"/>
                <a:cs typeface="Arial" pitchFamily="34" charset="-120"/>
              </a:rPr>
              <a:t>Foundation — establish governance, define 3 KPIs, and run mobile/access audit; deploy pilot landing page and manager brief.</a:t>
            </a:r>
            <a:endParaRPr lang="en-US" sz="1100" dirty="0"/>
          </a:p>
        </p:txBody>
      </p:sp>
      <p:sp>
        <p:nvSpPr>
          <p:cNvPr id="8" name="Shape 6"/>
          <p:cNvSpPr/>
          <p:nvPr/>
        </p:nvSpPr>
        <p:spPr>
          <a:xfrm>
            <a:off x="4368698" y="1188720"/>
            <a:ext cx="3454298" cy="3017520"/>
          </a:xfrm>
          <a:prstGeom prst="rect">
            <a:avLst/>
          </a:prstGeom>
          <a:solidFill>
            <a:srgbClr val="F7F8FA"/>
          </a:solidFill>
          <a:ln/>
        </p:spPr>
      </p:sp>
      <p:sp>
        <p:nvSpPr>
          <p:cNvPr id="9" name="Shape 7"/>
          <p:cNvSpPr/>
          <p:nvPr/>
        </p:nvSpPr>
        <p:spPr>
          <a:xfrm>
            <a:off x="4597298" y="1417320"/>
            <a:ext cx="365760" cy="365760"/>
          </a:xfrm>
          <a:prstGeom prst="ellipse">
            <a:avLst/>
          </a:prstGeom>
          <a:solidFill>
            <a:srgbClr val="7CB342"/>
          </a:solidFill>
          <a:ln/>
        </p:spPr>
      </p:sp>
      <p:sp>
        <p:nvSpPr>
          <p:cNvPr id="10" name="Text 8"/>
          <p:cNvSpPr/>
          <p:nvPr/>
        </p:nvSpPr>
        <p:spPr>
          <a:xfrm>
            <a:off x="4597298" y="14173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4597298" y="1920240"/>
            <a:ext cx="2997098" cy="502920"/>
          </a:xfrm>
          <a:prstGeom prst="rect">
            <a:avLst/>
          </a:prstGeom>
          <a:noFill/>
          <a:ln/>
        </p:spPr>
        <p:txBody>
          <a:bodyPr wrap="square" lIns="0" tIns="0" rIns="0" bIns="0" rtlCol="0" anchor="t"/>
          <a:lstStyle/>
          <a:p>
            <a:pPr indent="0" marL="0">
              <a:buNone/>
            </a:pPr>
            <a:r>
              <a:rPr lang="en-US" sz="1300" b="1" dirty="0">
                <a:solidFill>
                  <a:srgbClr val="132340"/>
                </a:solidFill>
                <a:latin typeface="Arial" pitchFamily="34" charset="0"/>
                <a:ea typeface="Arial" pitchFamily="34" charset="-122"/>
                <a:cs typeface="Arial" pitchFamily="34" charset="-120"/>
              </a:rPr>
              <a:t>Phase 2</a:t>
            </a:r>
            <a:endParaRPr lang="en-US" sz="1300" dirty="0"/>
          </a:p>
        </p:txBody>
      </p:sp>
      <p:sp>
        <p:nvSpPr>
          <p:cNvPr id="12" name="Text 10"/>
          <p:cNvSpPr/>
          <p:nvPr/>
        </p:nvSpPr>
        <p:spPr>
          <a:xfrm>
            <a:off x="4597298" y="2468880"/>
            <a:ext cx="2997098" cy="1554480"/>
          </a:xfrm>
          <a:prstGeom prst="rect">
            <a:avLst/>
          </a:prstGeom>
          <a:noFill/>
          <a:ln/>
        </p:spPr>
        <p:txBody>
          <a:bodyPr wrap="square" lIns="0" tIns="0" rIns="0" bIns="0" rtlCol="0" anchor="t"/>
          <a:lstStyle/>
          <a:p>
            <a:pPr indent="0" marL="0">
              <a:buNone/>
            </a:pPr>
            <a:r>
              <a:rPr lang="en-US" sz="1100" dirty="0">
                <a:solidFill>
                  <a:srgbClr val="1F2937"/>
                </a:solidFill>
                <a:latin typeface="Arial" pitchFamily="34" charset="0"/>
                <a:ea typeface="Arial" pitchFamily="34" charset="-122"/>
                <a:cs typeface="Arial" pitchFamily="34" charset="-120"/>
              </a:rPr>
              <a:t>Build — implement mobile authentication, centralized landing, guided start across pilot sites, and begin segmented measurement by site/shift; run episodic activation cycles tied to KPIs.</a:t>
            </a:r>
            <a:endParaRPr lang="en-US" sz="1100" dirty="0"/>
          </a:p>
        </p:txBody>
      </p:sp>
      <p:sp>
        <p:nvSpPr>
          <p:cNvPr id="13" name="Shape 11"/>
          <p:cNvSpPr/>
          <p:nvPr/>
        </p:nvSpPr>
        <p:spPr>
          <a:xfrm>
            <a:off x="8188757" y="1188720"/>
            <a:ext cx="3454298" cy="3017520"/>
          </a:xfrm>
          <a:prstGeom prst="rect">
            <a:avLst/>
          </a:prstGeom>
          <a:solidFill>
            <a:srgbClr val="F7F8FA"/>
          </a:solidFill>
          <a:ln/>
        </p:spPr>
      </p:sp>
      <p:sp>
        <p:nvSpPr>
          <p:cNvPr id="14" name="Shape 12"/>
          <p:cNvSpPr/>
          <p:nvPr/>
        </p:nvSpPr>
        <p:spPr>
          <a:xfrm>
            <a:off x="8417357" y="1417320"/>
            <a:ext cx="365760" cy="365760"/>
          </a:xfrm>
          <a:prstGeom prst="ellipse">
            <a:avLst/>
          </a:prstGeom>
          <a:solidFill>
            <a:srgbClr val="1F3A5F"/>
          </a:solidFill>
          <a:ln/>
        </p:spPr>
      </p:sp>
      <p:sp>
        <p:nvSpPr>
          <p:cNvPr id="15" name="Text 13"/>
          <p:cNvSpPr/>
          <p:nvPr/>
        </p:nvSpPr>
        <p:spPr>
          <a:xfrm>
            <a:off x="8417357" y="14173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4"/>
          <p:cNvSpPr/>
          <p:nvPr/>
        </p:nvSpPr>
        <p:spPr>
          <a:xfrm>
            <a:off x="8417357" y="1920240"/>
            <a:ext cx="2997098" cy="502920"/>
          </a:xfrm>
          <a:prstGeom prst="rect">
            <a:avLst/>
          </a:prstGeom>
          <a:noFill/>
          <a:ln/>
        </p:spPr>
        <p:txBody>
          <a:bodyPr wrap="square" lIns="0" tIns="0" rIns="0" bIns="0" rtlCol="0" anchor="t"/>
          <a:lstStyle/>
          <a:p>
            <a:pPr indent="0" marL="0">
              <a:buNone/>
            </a:pPr>
            <a:r>
              <a:rPr lang="en-US" sz="1300" b="1" dirty="0">
                <a:solidFill>
                  <a:srgbClr val="132340"/>
                </a:solidFill>
                <a:latin typeface="Arial" pitchFamily="34" charset="0"/>
                <a:ea typeface="Arial" pitchFamily="34" charset="-122"/>
                <a:cs typeface="Arial" pitchFamily="34" charset="-120"/>
              </a:rPr>
              <a:t>Phase 3</a:t>
            </a:r>
            <a:endParaRPr lang="en-US" sz="1300" dirty="0"/>
          </a:p>
        </p:txBody>
      </p:sp>
      <p:sp>
        <p:nvSpPr>
          <p:cNvPr id="17" name="Text 15"/>
          <p:cNvSpPr/>
          <p:nvPr/>
        </p:nvSpPr>
        <p:spPr>
          <a:xfrm>
            <a:off x="8417357" y="2468880"/>
            <a:ext cx="2997098" cy="1554480"/>
          </a:xfrm>
          <a:prstGeom prst="rect">
            <a:avLst/>
          </a:prstGeom>
          <a:noFill/>
          <a:ln/>
        </p:spPr>
        <p:txBody>
          <a:bodyPr wrap="square" lIns="0" tIns="0" rIns="0" bIns="0" rtlCol="0" anchor="t"/>
          <a:lstStyle/>
          <a:p>
            <a:pPr indent="0" marL="0">
              <a:buNone/>
            </a:pPr>
            <a:r>
              <a:rPr lang="en-US" sz="1100" dirty="0">
                <a:solidFill>
                  <a:srgbClr val="1F2937"/>
                </a:solidFill>
                <a:latin typeface="Arial" pitchFamily="34" charset="0"/>
                <a:ea typeface="Arial" pitchFamily="34" charset="-122"/>
                <a:cs typeface="Arial" pitchFamily="34" charset="-120"/>
              </a:rPr>
              <a:t>Iterate and Scale — analyze utilization by location, retire low‑value activities, scale successful pilots, and embed measurement into quarterly steering reviews.</a:t>
            </a:r>
            <a:endParaRPr lang="en-US" sz="1100" dirty="0"/>
          </a:p>
        </p:txBody>
      </p:sp>
      <p:sp>
        <p:nvSpPr>
          <p:cNvPr id="18" name="Text 16"/>
          <p:cNvSpPr/>
          <p:nvPr/>
        </p:nvSpPr>
        <p:spPr>
          <a:xfrm>
            <a:off x="548640" y="4480560"/>
            <a:ext cx="5486400" cy="274320"/>
          </a:xfrm>
          <a:prstGeom prst="rect">
            <a:avLst/>
          </a:prstGeom>
          <a:noFill/>
          <a:ln/>
        </p:spPr>
        <p:txBody>
          <a:bodyPr wrap="square" rtlCol="0" anchor="ctr"/>
          <a:lstStyle/>
          <a:p>
            <a:pPr indent="0" marL="0">
              <a:buNone/>
            </a:pPr>
            <a:r>
              <a:rPr lang="en-US" sz="1100" b="1" spc="100" kern="0" dirty="0">
                <a:solidFill>
                  <a:srgbClr val="667085"/>
                </a:solidFill>
                <a:latin typeface="Arial" pitchFamily="34" charset="0"/>
                <a:ea typeface="Arial" pitchFamily="34" charset="-122"/>
                <a:cs typeface="Arial" pitchFamily="34" charset="-120"/>
              </a:rPr>
              <a:t>DISCUSSION QUESTIONS</a:t>
            </a:r>
            <a:endParaRPr lang="en-US" sz="1100" dirty="0"/>
          </a:p>
        </p:txBody>
      </p:sp>
      <p:sp>
        <p:nvSpPr>
          <p:cNvPr id="19" name="Text 17"/>
          <p:cNvSpPr/>
          <p:nvPr/>
        </p:nvSpPr>
        <p:spPr>
          <a:xfrm>
            <a:off x="548640" y="4800600"/>
            <a:ext cx="11094415" cy="1463040"/>
          </a:xfrm>
          <a:prstGeom prst="rect">
            <a:avLst/>
          </a:prstGeom>
          <a:noFill/>
          <a:ln/>
        </p:spPr>
        <p:txBody>
          <a:bodyPr wrap="square" rtlCol="0" anchor="t"/>
          <a:lstStyle/>
          <a:p>
            <a:pPr marL="342900" indent="-342900">
              <a:spcAft>
                <a:spcPts val="600"/>
              </a:spcAft>
              <a:buSzPct val="100000"/>
              <a:buChar char="•"/>
            </a:pPr>
            <a:r>
              <a:rPr lang="en-US" sz="1100" dirty="0">
                <a:solidFill>
                  <a:srgbClr val="1F2937"/>
                </a:solidFill>
                <a:latin typeface="Arial" pitchFamily="34" charset="0"/>
                <a:ea typeface="Arial" pitchFamily="34" charset="-122"/>
                <a:cs typeface="Arial" pitchFamily="34" charset="-120"/>
              </a:rPr>
              <a:t>Who will be the named program owner and what decision authority will they have for pilots, vendors, and budgets?</a:t>
            </a:r>
            <a:endParaRPr lang="en-US" sz="1100" dirty="0"/>
          </a:p>
          <a:p>
            <a:pPr marL="342900" indent="-342900">
              <a:spcAft>
                <a:spcPts val="600"/>
              </a:spcAft>
              <a:buSzPct val="100000"/>
              <a:buChar char="•"/>
            </a:pPr>
            <a:r>
              <a:rPr lang="en-US" sz="1100" dirty="0">
                <a:solidFill>
                  <a:srgbClr val="1F2937"/>
                </a:solidFill>
                <a:latin typeface="Arial" pitchFamily="34" charset="0"/>
                <a:ea typeface="Arial" pitchFamily="34" charset="-122"/>
                <a:cs typeface="Arial" pitchFamily="34" charset="-120"/>
              </a:rPr>
              <a:t>Which three KPIs matter most to you for the next 3–6 months (examples: first‑action completion by site, active participants per 100 employees, preventive care scheduling)?</a:t>
            </a:r>
            <a:endParaRPr lang="en-US" sz="1100" dirty="0"/>
          </a:p>
          <a:p>
            <a:pPr marL="342900" indent="-342900">
              <a:spcAft>
                <a:spcPts val="600"/>
              </a:spcAft>
              <a:buSzPct val="100000"/>
              <a:buChar char="•"/>
            </a:pPr>
            <a:r>
              <a:rPr lang="en-US" sz="1100" dirty="0">
                <a:solidFill>
                  <a:srgbClr val="1F2937"/>
                </a:solidFill>
                <a:latin typeface="Arial" pitchFamily="34" charset="0"/>
                <a:ea typeface="Arial" pitchFamily="34" charset="-122"/>
                <a:cs typeface="Arial" pitchFamily="34" charset="-120"/>
              </a:rPr>
              <a:t>Can we pilot mobile QR/sms access and a guided start at two manufacturing sites in the next 60 days — which sites would you recommend?</a:t>
            </a:r>
            <a:endParaRPr lang="en-US" sz="1100" dirty="0"/>
          </a:p>
        </p:txBody>
      </p:sp>
      <p:sp>
        <p:nvSpPr>
          <p:cNvPr id="20" name="Text 18"/>
          <p:cNvSpPr/>
          <p:nvPr/>
        </p:nvSpPr>
        <p:spPr>
          <a:xfrm>
            <a:off x="548640" y="6492240"/>
            <a:ext cx="2743200" cy="274320"/>
          </a:xfrm>
          <a:prstGeom prst="rect">
            <a:avLst/>
          </a:prstGeom>
          <a:noFill/>
          <a:ln/>
        </p:spPr>
        <p:txBody>
          <a:bodyPr wrap="square" rtlCol="0" anchor="ctr"/>
          <a:lstStyle/>
          <a:p>
            <a:pPr indent="0" marL="0">
              <a:buNone/>
            </a:pPr>
            <a:r>
              <a:rPr lang="en-US" sz="800" i="1" dirty="0">
                <a:solidFill>
                  <a:srgbClr val="667085"/>
                </a:solidFill>
                <a:latin typeface="Arial" pitchFamily="34" charset="0"/>
                <a:ea typeface="Arial" pitchFamily="34" charset="-122"/>
                <a:cs typeface="Arial" pitchFamily="34" charset="-120"/>
              </a:rPr>
              <a:t>Powered by Propel</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340"/>
        </a:solidFill>
      </p:bgPr>
    </p:bg>
    <p:spTree>
      <p:nvGrpSpPr>
        <p:cNvPr id="1" name=""/>
        <p:cNvGrpSpPr/>
        <p:nvPr/>
      </p:nvGrpSpPr>
      <p:grpSpPr>
        <a:xfrm>
          <a:off x="0" y="0"/>
          <a:ext cx="0" cy="0"/>
          <a:chOff x="0" y="0"/>
          <a:chExt cx="0" cy="0"/>
        </a:xfrm>
      </p:grpSpPr>
      <p:sp>
        <p:nvSpPr>
          <p:cNvPr id="2" name="Text 0"/>
          <p:cNvSpPr/>
          <p:nvPr/>
        </p:nvSpPr>
        <p:spPr>
          <a:xfrm>
            <a:off x="548640" y="2560320"/>
            <a:ext cx="731520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Thank you</a:t>
            </a:r>
            <a:endParaRPr lang="en-US" sz="3400" dirty="0"/>
          </a:p>
        </p:txBody>
      </p:sp>
      <p:sp>
        <p:nvSpPr>
          <p:cNvPr id="3" name="Text 1"/>
          <p:cNvSpPr/>
          <p:nvPr/>
        </p:nvSpPr>
        <p:spPr>
          <a:xfrm>
            <a:off x="548640" y="3291840"/>
            <a:ext cx="8229600" cy="365760"/>
          </a:xfrm>
          <a:prstGeom prst="rect">
            <a:avLst/>
          </a:prstGeom>
          <a:noFill/>
          <a:ln/>
        </p:spPr>
        <p:txBody>
          <a:bodyPr wrap="square" lIns="0" tIns="0" rIns="0" bIns="0" rtlCol="0" anchor="ctr"/>
          <a:lstStyle/>
          <a:p>
            <a:pPr indent="0" marL="0">
              <a:buNone/>
            </a:pPr>
            <a:r>
              <a:rPr lang="en-US" sz="1400" dirty="0">
                <a:solidFill>
                  <a:srgbClr val="C9D6E8"/>
                </a:solidFill>
                <a:latin typeface="Arial" pitchFamily="34" charset="0"/>
                <a:ea typeface="Arial" pitchFamily="34" charset="-122"/>
                <a:cs typeface="Arial" pitchFamily="34" charset="-120"/>
              </a:rPr>
              <a:t>Dyerco Fabricators  ·  Propel Well-being Opportunity Index</a:t>
            </a:r>
            <a:endParaRPr lang="en-US" sz="1400" dirty="0"/>
          </a:p>
        </p:txBody>
      </p:sp>
      <p:sp>
        <p:nvSpPr>
          <p:cNvPr id="4" name="Text 2"/>
          <p:cNvSpPr/>
          <p:nvPr/>
        </p:nvSpPr>
        <p:spPr>
          <a:xfrm>
            <a:off x="548640" y="6355080"/>
            <a:ext cx="3657600" cy="274320"/>
          </a:xfrm>
          <a:prstGeom prst="rect">
            <a:avLst/>
          </a:prstGeom>
          <a:noFill/>
          <a:ln/>
        </p:spPr>
        <p:txBody>
          <a:bodyPr wrap="square" rtlCol="0" anchor="ctr"/>
          <a:lstStyle/>
          <a:p>
            <a:pPr indent="0" marL="0">
              <a:buNone/>
            </a:pPr>
            <a:r>
              <a:rPr lang="en-US" sz="900" i="1" dirty="0">
                <a:solidFill>
                  <a:srgbClr val="8FA3C0"/>
                </a:solidFill>
                <a:latin typeface="Arial" pitchFamily="34" charset="0"/>
                <a:ea typeface="Arial" pitchFamily="34" charset="-122"/>
                <a:cs typeface="Arial" pitchFamily="34" charset="-120"/>
              </a:rPr>
              <a:t>Powered by Propel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2026-08-05T14:57:39Z</dcterms:created>
  <dcterms:modified xsi:type="dcterms:W3CDTF">2026-08-05T14:57:39Z</dcterms:modified>
</cp:coreProperties>
</file>